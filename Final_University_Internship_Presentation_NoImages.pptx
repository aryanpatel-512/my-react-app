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respected HOD, Faculty Members, and External Examiners. My name is Patel Aryan Shaileshbhai, Enrollment number SR24BSIT138, currently in Semester VI of B.Sc. IT. Today, I present the formal technical defense and descriptive work breakdown of my six-month summer internship completed at Pranayuv Technologies Pvt. Ltd. In this presentation, I focus strictly on the engineering architecture, functional problem-solving, algorithm integration, and detailed work descriptions across four production web software deliverables developed during my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industrial training was conducted at Pranayuv Technologies Pvt. Ltd., registered under CIN U62099AP2025PTC119012, under the guidance of Director Mr. Ajay Polavarapu. Guided by the corporate motto 'Empowering Lives through Innovation', Pranayuv engineers modern SaaS solutions tailored for healthcare clean room infrastructures and modern educational management institutions. Working within the Brand &amp; Growth Engineering division, my technical mission was translating complex institutional client requirements into high-performance, maintainable software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academic objectives of this internship were structured around three distinct engineering pillars designed to transition theoretical computer science principles into practical software execution. Pillar 1 focused on Frontend UI/UX engineering, mastering declarative component architectures with React 19 and zero-dependency custom design systems. Pillar 2 centered on secure backend development, designing stateless Express REST APIs protected by Bcrypt encryption and JWT authorization. Pillar 3 emphasized NoSQL database engineering, constructing optimized MongoDB document schemas via Mongoose to enforce data integrity across high-volume healthcare and educational records.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our software deliverables met professional production standards, we utilized a formalized four-phase Agile development lifecycle across every project. In Phase 1, we executed domain domain analysis and database modeling to scope institutional needs. In Phase 2, we created high-fidelity interactive Figma wireframes to eliminate UI friction before programming. In Phase 3, we wrote clean, modular production code across React frontends and Express backends. Finally, in Phase 4, every REST endpoint underwent comprehensive simulation testing via Postman prior to compiling optimized production bundles with Vite.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articulates the comprehensive technology toolchain mastered during my internship. Our frontend software utilizes React version 19 and Vite 8 for reactive enterprise applications, supplemented by semantic HTML5 and ES6 JavaScript for lightweight portals. On the backend server side, we utilize Node.js and Express.js directly integrated with MongoDB and Mongoose ODM for scalable document storage and schema enforcement. To ensure strict defense against security exploits, administrative workflows implement BcryptJS salted password hashing, stateless JSON Web Tokens for bearer authentication, and streaming middleware for safe file ingestion.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our specific software deliverables, Project 1 centered on engineering the Pranayuv Landing Page, an enterprise digital showcase tailored for healthcare clean room architectures. The core business challenge surmounted here was eliminating lead conversion delays inherent in traditional medical supply catalogs. We transformed the customer acquisition journey by creating a responsive digital portal with direct quotation triggers. Remarkably, by coding custom vanilla CSS3 without heavy third-party CSS frameworks, we eliminated bundle bloat completely, ensuring sub-second loading speeds on hospital terminal displays.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provides a detailed engineering work description of my codebase contributions to Project 1. My specific programming responsibilities focused on architecting a fluid DOM hierarchy and implementing custom CSS media query breakpoints that adapt seamlessly from widescreen desktop hospital viewing down to mobile handheld devices. By enforcing a shallow DOM tree and utilizing hardware-accelerated CSS micro-animations, we achieved smooth visual feedback during product card hover states without incurring rendering lags. This deliverable verified my competency in cross-browser compatibility, W3C structural standards, and accessible UI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Project 2, EduNexus School Website showcases my capabilities in foundational UI/UX architectural wireframing using Figma. In enterprise software engineering, jumping directly into programming without standardized UI prototypes often leads to disjointed interfaces and costly codebase rewrites. EduNexus addressed institutional administrative friction by establishing a cohesive, intuitive visual language beforehand. Using atomized auto-layout components and strict HSL color tokens, we created interactive mockups that allowed stakeholders to test and validate user journeys prior to full-stack code implementation—saving significant development overhead.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breaks down the functional work description across the four verified portal interfaces designed for EduNexus. In the upper left, the Institutional Home Portal structures brand storytelling and announcement broadcasts. In the upper right, the Admission Requirement flow transforms overwhelming enrollment documentation into clean, step-by-step visual checklists. On the bottom row, observe our functional differentiation: the Principal Dashboard in the lower left offers executive leadership high-density analytics on faculty attendance and institutional metrics, whereas the Student Portal in the lower right provides a clutter-free hub for examination results, timetables, and resource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Project 3, we progressed from static design prototypes into full frontend web application execution with BrightPath Academy, a feature-complete School Management System. Built strictly with HTML5, CSS3, and dynamic Vanilla JavaScript ES6, this codebase completely digitizes administrative workflows. Our structural verification of the school_management repository revealed a comprehensive multi-page application spanning onboarding registration forms, staff analytical dashboards, and a feature-rich student learning portal complete with embedded recorded lecture videos and timetable PDFs. By utilizing native browser DOM APIs, this platform executes with zero server latency even on minimal lab computers.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standout engineering achievement in Project 3 was the implementation of an interactive AI Chatbot designed to automate helpdesk operations. During my analysis of config.js and client scripts, I confirmed an architectural design engineered to interface directly with OpenAI API endpoints for real-time natural language conversation. Most importantly, to ensure fault tolerance when operating offline or during API network limits, I engineered an intelligent client-side algorithmic fallback engine. If network promises time out, our local JavaScript controller intercepts student prompts and performs algorithmic keyword matching, instantly delivering accurate responses regarding tuition fees, exam schedules, and library rules without throwing runtime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advance to Project 4, my flagship Full-Stack enterprise engineering deliverable: the Sri Srinivasa Clean Rooms and Medical Furniture platform. This project tackled a major commercial engineering obstacle: managing complex, high-value hospital surgical equipment catalogs. Legacy operations struggle with tedious database updates and poor client search capabilities. To resolve this, we built a modern Full-Stack web application powered by the MERN stack—leveraging React 19 and Vite on the frontend, Node and Express on the backend server, and MongoDB with Mongoose for document persistence. The architecture enforces strict Role-Based Access Control, seamlessly separating public hospital client filtering from authenticated corporate administrative CRUD controls.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conceptual visual architectural block diagram illustrates the decoupled end-to-end data flow engineered for Project 4. On the far left, our Client UI layer developed in React 19 handles responsive component rendering, routing, and user interaction. When a client performs an action, Axios initiates asynchronous REST HTTP requests across our API Gateway—shown in the center block—running on Express.js. Here, custom middleware pipelines intercept requests to parse JSON bodies, verify JSON Web Tokens, or process file streams via Multer. Finally, validated requests pass into the far right block, interacting with MongoDB through specialized Mongoose ODM schemas to execute atomic database CRUD operations and Bcrypt hash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details the REST API routing architecture and rigorous cryptographic security protocols engineered in our Express backend server. On the left, notice how endpoint routes strictly cleanly isolate public product catalog fetching from protected inventory modifications. To safeguard against unauthorized alterations and cybersecurity intrusions, we implemented robust defensive protocols shown on the right. Administrative credentials undergo one-way salted algorithmic encryption using BcryptJS before database insertion—meaning passwords never exist in plaintext. When an administrator authenticates via login, the server cryptographically signs a JSON Web Token. Every subsequent protected operation—such as adding items or performing CSV bulk imports—requires this verified token in HTTP headers.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15, we examine our NoSQL database modeling executed via MongoDB and Mongoose Object Document Mapping. On the left is our extensive Product schema. To support hospital equipment requirements, the schema enforces strict validation rules across item titles, categorized enums, numerical pricing, file system image references, and embedded specification sub-documents detailing ISO clean class ratings. On the right, notice our Admin credential schema and NoSQL optimization strategy. Utilizing flexible MongoDB document storage allows us to manage varied medical equipment attributes without complex SQL relational joins, while selective category indexing guarantees lightning-fast query filtering.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our interactive administrative CRUD dashboard and an advanced technical capability: the Automated Bulk CSV Import Module. On the left, notice how the React administrative interface equips managers with full CRUD operations over product listings and multi-part image uploads. However, in commercial healthcare supply chain operations, manually typing product data for hundreds of inventory SKUs causes massive bottlenecks and high user error rates. To resolve this, I engineered an automated streaming CSV ingestion endpoint. Authorized staff upload a raw inventory spreadsheet; our Express backend streams the file using csv-parser, maps columns directly to our Mongoose schema, and executes atomic mass document insertions into MongoDB in seconds—reducing data management overhead from hours to moments.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this intense six-month software engineering training, several non-trivial architectural hurdles were encountered and systematically conquered. First, to solve asynchronous state race conditions during rapid React category filtering, I implemented promise abort controllers that automatically cancel outdated network fetch calls before updating UI state. Second, to secure our endpoints against payload tampering and brute-force attacks, we integrated rigorous Bcrypt password hashing and JWT defensive authorization barriers. Third, during bulk CSV file uploads, loading entire spreadsheets directly into server RAM risked stalling our Node event loop. I eliminated this memory bloat by engineering asynchronous stream piping, processing records chunk-by-chunk with zero memory leakage.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synthesizes the technical competencies acquired and the formal academic outcomes achieved throughout my internship at Pranayuv Technologies. Rather than possessing purely abstract classroom knowledge, I have proven industry readiness across five foundational pillars: Full-Stack MERN application architecture, scalable NoSQL MongoDB schema engineering, UI/UX wireframing in Figma, cryptographic API security, and Agile Git toolchains. By delivering four working production codebases across healthcare and educational domains, this six-month training has thoroughly validated my preparedness for high-level industry software engineering careers.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to the honorable HOD, respected faculty members, and external examiners for your valuable time and attentive consideration during this technical defense. I cordially welcome any evaluations or questions regarding my code architecture, database schemas, REST API security implementations, or algorithmic fallback logic across any of the four presented software deliverables. Thank you once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ectangle 1"/>
          <p:cNvSpPr/>
          <p:nvPr/>
        </p:nvSpPr>
        <p:spPr>
          <a:xfrm>
            <a:off x="731520" y="1280160"/>
            <a:ext cx="182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280160"/>
            <a:ext cx="10515600" cy="4297680"/>
          </a:xfrm>
          <a:prstGeom prst="rect">
            <a:avLst/>
          </a:prstGeom>
          <a:noFill/>
        </p:spPr>
        <p:txBody>
          <a:bodyPr wrap="square">
            <a:spAutoFit/>
          </a:bodyPr>
          <a:lstStyle/>
          <a:p>
            <a:pPr>
              <a:spcAft>
                <a:spcPts val="1000"/>
              </a:spcAft>
              <a:defRPr sz="3200" b="1">
                <a:solidFill>
                  <a:srgbClr val="FFFFFF"/>
                </a:solidFill>
                <a:latin typeface="Arial"/>
              </a:defRPr>
            </a:pPr>
            <a:r>
              <a:t>INDUSTRIAL INTERNSHIP TECHNICAL DEFENSE</a:t>
            </a:r>
          </a:p>
          <a:p>
            <a:pPr>
              <a:spcAft>
                <a:spcPts val="3800"/>
              </a:spcAft>
              <a:defRPr sz="2200">
                <a:solidFill>
                  <a:srgbClr val="C8DCF5"/>
                </a:solidFill>
                <a:latin typeface="Arial"/>
              </a:defRPr>
            </a:pPr>
            <a:r>
              <a:t>Comprehensive Architectural Work Description &amp; Project Analysis</a:t>
            </a:r>
          </a:p>
          <a:p>
            <a:pPr>
              <a:spcAft>
                <a:spcPts val="600"/>
              </a:spcAft>
              <a:defRPr sz="1800" b="1">
                <a:solidFill>
                  <a:srgbClr val="FFFFFF"/>
                </a:solidFill>
                <a:latin typeface="Arial"/>
              </a:defRPr>
            </a:pPr>
            <a:r>
              <a:t>Presenter: Patel Aryan Shaileshbhai  |  Enrollment: SR24BSIT138</a:t>
            </a:r>
          </a:p>
          <a:p>
            <a:pPr>
              <a:spcAft>
                <a:spcPts val="600"/>
              </a:spcAft>
              <a:defRPr sz="1600">
                <a:solidFill>
                  <a:srgbClr val="FFFFFF"/>
                </a:solidFill>
                <a:latin typeface="Arial"/>
              </a:defRPr>
            </a:pPr>
            <a:r>
              <a:t>Academic Program: B.Sc. Information Technology (Semester VI - AY 2025–2026)</a:t>
            </a:r>
          </a:p>
          <a:p>
            <a:pPr>
              <a:spcAft>
                <a:spcPts val="600"/>
              </a:spcAft>
              <a:defRPr sz="1500">
                <a:solidFill>
                  <a:srgbClr val="DCE6F5"/>
                </a:solidFill>
                <a:latin typeface="Arial"/>
              </a:defRPr>
            </a:pPr>
            <a:r>
              <a:t>Institution: Shree Ramkrishna Institute of Computer Education &amp; Applied Sciences, Sarvajanik University</a:t>
            </a:r>
          </a:p>
          <a:p>
            <a:pPr>
              <a:defRPr sz="1600" b="1">
                <a:solidFill>
                  <a:srgbClr val="A0CDFF"/>
                </a:solidFill>
                <a:latin typeface="Arial"/>
              </a:defRPr>
            </a:pPr>
            <a:r>
              <a:t>Host Corporate Organization: Pranayuv Technologies Pvt. Ltd.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PART 1: INDUSTRY HOST &amp; CORPORATE OVERVIEW</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Corporate Host: Pranayuv Technologies Pvt. Ltd.</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400"/>
              </a:spcAft>
            </a:pPr>
            <a:r>
              <a:rPr b="1" sz="1500">
                <a:solidFill>
                  <a:srgbClr val="1F4E79"/>
                </a:solidFill>
                <a:latin typeface="Arial"/>
              </a:rPr>
              <a:t>Corporate Identity: </a:t>
            </a:r>
            <a:r>
              <a:rPr b="0" sz="1500">
                <a:solidFill>
                  <a:srgbClr val="1F4E79"/>
                </a:solidFill>
                <a:latin typeface="Arial"/>
              </a:rPr>
              <a:t>Pranayuv Technologies Private Limited (CIN: U62099AP2025PTC119012)</a:t>
            </a:r>
          </a:p>
          <a:p>
            <a:pPr>
              <a:spcAft>
                <a:spcPts val="1400"/>
              </a:spcAft>
            </a:pPr>
            <a:r>
              <a:rPr b="1" sz="1500">
                <a:solidFill>
                  <a:srgbClr val="262626"/>
                </a:solidFill>
                <a:latin typeface="Arial"/>
              </a:rPr>
              <a:t>Assigned Division: </a:t>
            </a:r>
            <a:r>
              <a:rPr b="0" sz="1500">
                <a:solidFill>
                  <a:srgbClr val="262626"/>
                </a:solidFill>
                <a:latin typeface="Arial"/>
              </a:rPr>
              <a:t>Brand &amp; Growth Engineering Team</a:t>
            </a:r>
          </a:p>
          <a:p>
            <a:pPr>
              <a:spcAft>
                <a:spcPts val="1400"/>
              </a:spcAft>
            </a:pPr>
            <a:r>
              <a:rPr b="1" sz="1500">
                <a:solidFill>
                  <a:srgbClr val="262626"/>
                </a:solidFill>
                <a:latin typeface="Arial"/>
              </a:rPr>
              <a:t>Executive Supervision: </a:t>
            </a:r>
            <a:r>
              <a:rPr b="0" sz="1500">
                <a:solidFill>
                  <a:srgbClr val="262626"/>
                </a:solidFill>
                <a:latin typeface="Arial"/>
              </a:rPr>
              <a:t>Mr. Ajay Polavarapu (Corporate Director &amp; Technical Mentor)</a:t>
            </a:r>
          </a:p>
          <a:p>
            <a:pPr>
              <a:spcAft>
                <a:spcPts val="1400"/>
              </a:spcAft>
            </a:pPr>
            <a:r>
              <a:rPr b="1" sz="1500">
                <a:solidFill>
                  <a:srgbClr val="262626"/>
                </a:solidFill>
                <a:latin typeface="Arial"/>
              </a:rPr>
              <a:t>Official Corporate Portal: </a:t>
            </a:r>
            <a:r>
              <a:rPr b="0" sz="1500">
                <a:solidFill>
                  <a:srgbClr val="262626"/>
                </a:solidFill>
                <a:latin typeface="Arial"/>
              </a:rPr>
              <a:t>www.pranayuv.com | careers@pranayuv.com</a:t>
            </a:r>
          </a:p>
          <a:p>
            <a:pPr>
              <a:spcAft>
                <a:spcPts val="1400"/>
              </a:spcAft>
            </a:pPr>
            <a:r>
              <a:rPr b="1" sz="1500">
                <a:solidFill>
                  <a:srgbClr val="2E75B6"/>
                </a:solidFill>
                <a:latin typeface="Arial"/>
              </a:rPr>
              <a:t>Organizational Vision: </a:t>
            </a:r>
            <a:r>
              <a:rPr b="0" sz="1500">
                <a:solidFill>
                  <a:srgbClr val="2E75B6"/>
                </a:solidFill>
                <a:latin typeface="Arial"/>
              </a:rPr>
              <a:t>"Empowering Lives through Innovation"</a:t>
            </a:r>
          </a:p>
        </p:txBody>
      </p:sp>
      <p:sp>
        <p:nvSpPr>
          <p:cNvPr id="7" name="Rounded Rectangle 6"/>
          <p:cNvSpPr/>
          <p:nvPr/>
        </p:nvSpPr>
        <p:spPr>
          <a:xfrm>
            <a:off x="621792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800"/>
              </a:spcAft>
            </a:pPr>
            <a:r>
              <a:rPr b="1" sz="1500">
                <a:solidFill>
                  <a:srgbClr val="FFFFFF"/>
                </a:solidFill>
                <a:latin typeface="Arial"/>
              </a:rPr>
              <a:t>Industry Positioning &amp; Software Domains: </a:t>
            </a:r>
            <a:r>
              <a:rPr b="0" sz="1500">
                <a:solidFill>
                  <a:srgbClr val="FFFFFF"/>
                </a:solidFill>
                <a:latin typeface="Arial"/>
              </a:rPr>
              <a:t>Pranayuv Technologies is an established technology enterprise specializing in two critical industry sectors: medical hospital infrastructure software (clean room equipment platforms) and institutional educational ERP solutions.</a:t>
            </a:r>
          </a:p>
          <a:p>
            <a:pPr>
              <a:spcAft>
                <a:spcPts val="1400"/>
              </a:spcAft>
            </a:pPr>
            <a:r>
              <a:rPr b="1" sz="1500">
                <a:solidFill>
                  <a:srgbClr val="FFFFFF"/>
                </a:solidFill>
                <a:latin typeface="Arial"/>
              </a:rPr>
              <a:t>Internship Operational Scope: </a:t>
            </a:r>
            <a:r>
              <a:rPr b="0" sz="1500">
                <a:solidFill>
                  <a:srgbClr val="FFFFFF"/>
                </a:solidFill>
                <a:latin typeface="Arial"/>
              </a:rPr>
              <a:t>As a Full-Stack Engineering Intern, I was integrated into active software engineering pipelines. My core responsibility centered on architectural UI/UX wireframing, reactive frontend application programming, RESTful API engineering, and NoSQL database modeling.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PART 1: ACADEMIC MILESTONES &amp; SKILL BUILDING</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Core Internship Objectives &amp; Engineering Pillars</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36118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3611880" cy="548640"/>
          </a:xfrm>
          <a:prstGeom prst="rect">
            <a:avLst/>
          </a:prstGeom>
          <a:noFill/>
        </p:spPr>
        <p:txBody>
          <a:bodyPr wrap="square">
            <a:spAutoFit/>
          </a:bodyPr>
          <a:lstStyle/>
          <a:p>
            <a:pPr algn="ctr">
              <a:defRPr sz="1500" b="1">
                <a:solidFill>
                  <a:srgbClr val="FFFFFF"/>
                </a:solidFill>
                <a:latin typeface="Arial"/>
              </a:defRPr>
            </a:pPr>
            <a:r>
              <a:t>Pillar 1: Frontend UI/UX Engineering</a:t>
            </a:r>
          </a:p>
        </p:txBody>
      </p:sp>
      <p:sp>
        <p:nvSpPr>
          <p:cNvPr id="7" name="Rounded Rectangle 6"/>
          <p:cNvSpPr/>
          <p:nvPr/>
        </p:nvSpPr>
        <p:spPr>
          <a:xfrm>
            <a:off x="548640" y="2377440"/>
            <a:ext cx="3611880" cy="402336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468880"/>
            <a:ext cx="3337560" cy="3840480"/>
          </a:xfrm>
          <a:prstGeom prst="rect">
            <a:avLst/>
          </a:prstGeom>
          <a:noFill/>
        </p:spPr>
        <p:txBody>
          <a:bodyPr wrap="square">
            <a:spAutoFit/>
          </a:bodyPr>
          <a:lstStyle/>
          <a:p>
            <a:pPr>
              <a:spcAft>
                <a:spcPts val="1200"/>
              </a:spcAft>
            </a:pPr>
            <a:r>
              <a:rPr b="1" sz="1300">
                <a:solidFill>
                  <a:srgbClr val="262626"/>
                </a:solidFill>
                <a:latin typeface="Arial"/>
              </a:rPr>
              <a:t>✔ Reactive SPA Design: </a:t>
            </a:r>
            <a:r>
              <a:rPr b="0" sz="1300">
                <a:solidFill>
                  <a:srgbClr val="262626"/>
                </a:solidFill>
                <a:latin typeface="Arial"/>
              </a:rPr>
              <a:t>Master component-driven architectural patterns using React.js (v19) and Vite (v8).</a:t>
            </a:r>
          </a:p>
          <a:p>
            <a:pPr>
              <a:spcAft>
                <a:spcPts val="1200"/>
              </a:spcAft>
            </a:pPr>
            <a:r>
              <a:rPr b="1" sz="1300">
                <a:solidFill>
                  <a:srgbClr val="262626"/>
                </a:solidFill>
                <a:latin typeface="Arial"/>
              </a:rPr>
              <a:t>✔ Design Systems: </a:t>
            </a:r>
            <a:r>
              <a:rPr b="0" sz="1300">
                <a:solidFill>
                  <a:srgbClr val="262626"/>
                </a:solidFill>
                <a:latin typeface="Arial"/>
              </a:rPr>
              <a:t>Construct custom vanilla CSS3 styling tokens without reliance on external bloated frameworks.</a:t>
            </a:r>
          </a:p>
          <a:p>
            <a:pPr>
              <a:spcAft>
                <a:spcPts val="1200"/>
              </a:spcAft>
            </a:pPr>
            <a:r>
              <a:rPr b="1" sz="1300">
                <a:solidFill>
                  <a:srgbClr val="262626"/>
                </a:solidFill>
                <a:latin typeface="Arial"/>
              </a:rPr>
              <a:t>✔ Responsive UX: </a:t>
            </a:r>
            <a:r>
              <a:rPr b="0" sz="1300">
                <a:solidFill>
                  <a:srgbClr val="262626"/>
                </a:solidFill>
                <a:latin typeface="Arial"/>
              </a:rPr>
              <a:t>Engineer adaptive interface layouts guaranteeing legibility across desktop, tablet, and mobile displays.</a:t>
            </a:r>
          </a:p>
        </p:txBody>
      </p:sp>
      <p:sp>
        <p:nvSpPr>
          <p:cNvPr id="9" name="Rounded Rectangle 8"/>
          <p:cNvSpPr/>
          <p:nvPr/>
        </p:nvSpPr>
        <p:spPr>
          <a:xfrm>
            <a:off x="4343400" y="1645920"/>
            <a:ext cx="36118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691640"/>
            <a:ext cx="3611880" cy="548640"/>
          </a:xfrm>
          <a:prstGeom prst="rect">
            <a:avLst/>
          </a:prstGeom>
          <a:noFill/>
        </p:spPr>
        <p:txBody>
          <a:bodyPr wrap="square">
            <a:spAutoFit/>
          </a:bodyPr>
          <a:lstStyle/>
          <a:p>
            <a:pPr algn="ctr">
              <a:defRPr sz="1500" b="1">
                <a:solidFill>
                  <a:srgbClr val="FFFFFF"/>
                </a:solidFill>
                <a:latin typeface="Arial"/>
              </a:defRPr>
            </a:pPr>
            <a:r>
              <a:t>Pillar 2: RESTful API &amp; Server Logic</a:t>
            </a:r>
          </a:p>
        </p:txBody>
      </p:sp>
      <p:sp>
        <p:nvSpPr>
          <p:cNvPr id="11" name="Rounded Rectangle 10"/>
          <p:cNvSpPr/>
          <p:nvPr/>
        </p:nvSpPr>
        <p:spPr>
          <a:xfrm>
            <a:off x="4343400" y="2377440"/>
            <a:ext cx="3611880" cy="402336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468880"/>
            <a:ext cx="3337560" cy="3840480"/>
          </a:xfrm>
          <a:prstGeom prst="rect">
            <a:avLst/>
          </a:prstGeom>
          <a:noFill/>
        </p:spPr>
        <p:txBody>
          <a:bodyPr wrap="square">
            <a:spAutoFit/>
          </a:bodyPr>
          <a:lstStyle/>
          <a:p>
            <a:pPr>
              <a:spcAft>
                <a:spcPts val="1200"/>
              </a:spcAft>
            </a:pPr>
            <a:r>
              <a:rPr b="1" sz="1300">
                <a:solidFill>
                  <a:srgbClr val="262626"/>
                </a:solidFill>
                <a:latin typeface="Arial"/>
              </a:rPr>
              <a:t>✔ Stateless Microservices: </a:t>
            </a:r>
            <a:r>
              <a:rPr b="0" sz="1300">
                <a:solidFill>
                  <a:srgbClr val="262626"/>
                </a:solidFill>
                <a:latin typeface="Arial"/>
              </a:rPr>
              <a:t>Design scalable, decoupled backend routing architectures using Node.js and Express.js.</a:t>
            </a:r>
          </a:p>
          <a:p>
            <a:pPr>
              <a:spcAft>
                <a:spcPts val="1200"/>
              </a:spcAft>
            </a:pPr>
            <a:r>
              <a:rPr b="1" sz="1300">
                <a:solidFill>
                  <a:srgbClr val="262626"/>
                </a:solidFill>
                <a:latin typeface="Arial"/>
              </a:rPr>
              <a:t>✔ Enterprise Security: </a:t>
            </a:r>
            <a:r>
              <a:rPr b="0" sz="1300">
                <a:solidFill>
                  <a:srgbClr val="262626"/>
                </a:solidFill>
                <a:latin typeface="Arial"/>
              </a:rPr>
              <a:t>Implement cryptographic Bcrypt password hashing and JSON Web Token (JWT) session-less authentication.</a:t>
            </a:r>
          </a:p>
          <a:p>
            <a:pPr>
              <a:spcAft>
                <a:spcPts val="1200"/>
              </a:spcAft>
            </a:pPr>
            <a:r>
              <a:rPr b="1" sz="1300">
                <a:solidFill>
                  <a:srgbClr val="262626"/>
                </a:solidFill>
                <a:latin typeface="Arial"/>
              </a:rPr>
              <a:t>✔ Stream Processing: </a:t>
            </a:r>
            <a:r>
              <a:rPr b="0" sz="1300">
                <a:solidFill>
                  <a:srgbClr val="262626"/>
                </a:solidFill>
                <a:latin typeface="Arial"/>
              </a:rPr>
              <a:t>Build automated server endpoints capable of real-time multi-part image and CSV document ingestion.</a:t>
            </a:r>
          </a:p>
        </p:txBody>
      </p:sp>
      <p:sp>
        <p:nvSpPr>
          <p:cNvPr id="13" name="Rounded Rectangle 12"/>
          <p:cNvSpPr/>
          <p:nvPr/>
        </p:nvSpPr>
        <p:spPr>
          <a:xfrm>
            <a:off x="8138160" y="1645920"/>
            <a:ext cx="36118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691640"/>
            <a:ext cx="3611880" cy="548640"/>
          </a:xfrm>
          <a:prstGeom prst="rect">
            <a:avLst/>
          </a:prstGeom>
          <a:noFill/>
        </p:spPr>
        <p:txBody>
          <a:bodyPr wrap="square">
            <a:spAutoFit/>
          </a:bodyPr>
          <a:lstStyle/>
          <a:p>
            <a:pPr algn="ctr">
              <a:defRPr sz="1500" b="1">
                <a:solidFill>
                  <a:srgbClr val="FFFFFF"/>
                </a:solidFill>
                <a:latin typeface="Arial"/>
              </a:defRPr>
            </a:pPr>
            <a:r>
              <a:t>Pillar 3: NoSQL Database Architecture</a:t>
            </a:r>
          </a:p>
        </p:txBody>
      </p:sp>
      <p:sp>
        <p:nvSpPr>
          <p:cNvPr id="15" name="Rounded Rectangle 14"/>
          <p:cNvSpPr/>
          <p:nvPr/>
        </p:nvSpPr>
        <p:spPr>
          <a:xfrm>
            <a:off x="8138160" y="2377440"/>
            <a:ext cx="3611880" cy="402336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468880"/>
            <a:ext cx="3337560" cy="3840480"/>
          </a:xfrm>
          <a:prstGeom prst="rect">
            <a:avLst/>
          </a:prstGeom>
          <a:noFill/>
        </p:spPr>
        <p:txBody>
          <a:bodyPr wrap="square">
            <a:spAutoFit/>
          </a:bodyPr>
          <a:lstStyle/>
          <a:p>
            <a:pPr>
              <a:spcAft>
                <a:spcPts val="1200"/>
              </a:spcAft>
            </a:pPr>
            <a:r>
              <a:rPr b="1" sz="1300">
                <a:solidFill>
                  <a:srgbClr val="262626"/>
                </a:solidFill>
                <a:latin typeface="Arial"/>
              </a:rPr>
              <a:t>✔ Document Modeling: </a:t>
            </a:r>
            <a:r>
              <a:rPr b="0" sz="1300">
                <a:solidFill>
                  <a:srgbClr val="262626"/>
                </a:solidFill>
                <a:latin typeface="Arial"/>
              </a:rPr>
              <a:t>Design scalable MongoDB schemas utilizing Mongoose ODM for healthcare and educational domain models.</a:t>
            </a:r>
          </a:p>
          <a:p>
            <a:pPr>
              <a:spcAft>
                <a:spcPts val="1200"/>
              </a:spcAft>
            </a:pPr>
            <a:r>
              <a:rPr b="1" sz="1300">
                <a:solidFill>
                  <a:srgbClr val="262626"/>
                </a:solidFill>
                <a:latin typeface="Arial"/>
              </a:rPr>
              <a:t>✔ Query Optimization: </a:t>
            </a:r>
            <a:r>
              <a:rPr b="0" sz="1300">
                <a:solidFill>
                  <a:srgbClr val="262626"/>
                </a:solidFill>
                <a:latin typeface="Arial"/>
              </a:rPr>
              <a:t>Configure selective index generation on frequently filtered attributes to ensure sub-second search responses.</a:t>
            </a:r>
          </a:p>
          <a:p>
            <a:pPr>
              <a:spcAft>
                <a:spcPts val="1200"/>
              </a:spcAft>
            </a:pPr>
            <a:r>
              <a:rPr b="1" sz="1300">
                <a:solidFill>
                  <a:srgbClr val="262626"/>
                </a:solidFill>
                <a:latin typeface="Arial"/>
              </a:rPr>
              <a:t>✔ Data Integrity: </a:t>
            </a:r>
            <a:r>
              <a:rPr b="0" sz="1300">
                <a:solidFill>
                  <a:srgbClr val="262626"/>
                </a:solidFill>
                <a:latin typeface="Arial"/>
              </a:rPr>
              <a:t>Enforce strict schema field validation, enumeration restrictions, and atomic mass data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PART 1: INDUSTRIAL ENGINEERING METHODOLOGY</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Agile Software Development Lifecycle (SDLC) Workflow</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11064240" cy="731520"/>
          </a:xfrm>
          <a:prstGeom prst="roundRect">
            <a:avLst/>
          </a:prstGeom>
          <a:solidFill>
            <a:srgbClr val="F2F4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10698480" cy="548640"/>
          </a:xfrm>
          <a:prstGeom prst="rect">
            <a:avLst/>
          </a:prstGeom>
          <a:noFill/>
        </p:spPr>
        <p:txBody>
          <a:bodyPr wrap="square">
            <a:spAutoFit/>
          </a:bodyPr>
          <a:lstStyle/>
          <a:p>
            <a:pPr>
              <a:spcAft>
                <a:spcPts val="0"/>
              </a:spcAft>
            </a:pPr>
            <a:r>
              <a:rPr b="1" sz="1500">
                <a:solidFill>
                  <a:srgbClr val="1F4E79"/>
                </a:solidFill>
                <a:latin typeface="Arial"/>
              </a:rPr>
              <a:t>Iterative Industrial Methodology: </a:t>
            </a:r>
            <a:r>
              <a:rPr b="0" sz="1500">
                <a:solidFill>
                  <a:srgbClr val="1F4E79"/>
                </a:solidFill>
                <a:latin typeface="Arial"/>
              </a:rPr>
              <a:t>To deliver reliable software deliverables without technical debt or security vulnerabilities, all four internship projects adhered strictly to a 4-Phase Agile Software Engineering workflow.</a:t>
            </a:r>
          </a:p>
        </p:txBody>
      </p:sp>
      <p:sp>
        <p:nvSpPr>
          <p:cNvPr id="7" name="Rounded Rectangle 6"/>
          <p:cNvSpPr/>
          <p:nvPr/>
        </p:nvSpPr>
        <p:spPr>
          <a:xfrm>
            <a:off x="548640" y="2560320"/>
            <a:ext cx="269748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33472"/>
            <a:ext cx="2697480" cy="457200"/>
          </a:xfrm>
          <a:prstGeom prst="rect">
            <a:avLst/>
          </a:prstGeom>
          <a:noFill/>
        </p:spPr>
        <p:txBody>
          <a:bodyPr wrap="none">
            <a:spAutoFit/>
          </a:bodyPr>
          <a:lstStyle/>
          <a:p>
            <a:pPr algn="ctr">
              <a:defRPr sz="1400" b="1">
                <a:solidFill>
                  <a:srgbClr val="FFFFFF"/>
                </a:solidFill>
                <a:latin typeface="Arial"/>
              </a:defRPr>
            </a:pPr>
            <a:r>
              <a:t>PHASE 1: ANALYSIS</a:t>
            </a:r>
          </a:p>
        </p:txBody>
      </p:sp>
      <p:sp>
        <p:nvSpPr>
          <p:cNvPr id="9" name="Rounded Rectangle 8"/>
          <p:cNvSpPr/>
          <p:nvPr/>
        </p:nvSpPr>
        <p:spPr>
          <a:xfrm>
            <a:off x="548640" y="3200400"/>
            <a:ext cx="2697480" cy="32004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291840"/>
            <a:ext cx="2468880" cy="3017520"/>
          </a:xfrm>
          <a:prstGeom prst="rect">
            <a:avLst/>
          </a:prstGeom>
          <a:noFill/>
        </p:spPr>
        <p:txBody>
          <a:bodyPr wrap="square">
            <a:spAutoFit/>
          </a:bodyPr>
          <a:lstStyle/>
          <a:p>
            <a:pPr>
              <a:spcAft>
                <a:spcPts val="0"/>
              </a:spcAft>
            </a:pPr>
            <a:r>
              <a:rPr b="1" sz="1300">
                <a:solidFill>
                  <a:srgbClr val="262626"/>
                </a:solidFill>
                <a:latin typeface="Arial"/>
              </a:rPr>
              <a:t/>
            </a:r>
            <a:r>
              <a:rPr b="0" sz="1300">
                <a:solidFill>
                  <a:srgbClr val="262626"/>
                </a:solidFill>
                <a:latin typeface="Arial"/>
              </a:rPr>
              <a:t>Requirements Analysis &amp; Domain Schema Modeling:
Evaluating institutional pain points, defining functional scope, structuring directories, and mapping Mongoose database schemas.</a:t>
            </a:r>
          </a:p>
        </p:txBody>
      </p:sp>
      <p:sp>
        <p:nvSpPr>
          <p:cNvPr id="11" name="Right Arrow 10"/>
          <p:cNvSpPr/>
          <p:nvPr/>
        </p:nvSpPr>
        <p:spPr>
          <a:xfrm>
            <a:off x="3291840" y="4480560"/>
            <a:ext cx="73152" cy="274320"/>
          </a:xfrm>
          <a:prstGeom prst="rightArrow">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83280" y="2560320"/>
            <a:ext cx="269748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2633472"/>
            <a:ext cx="2697480" cy="457200"/>
          </a:xfrm>
          <a:prstGeom prst="rect">
            <a:avLst/>
          </a:prstGeom>
          <a:noFill/>
        </p:spPr>
        <p:txBody>
          <a:bodyPr wrap="none">
            <a:spAutoFit/>
          </a:bodyPr>
          <a:lstStyle/>
          <a:p>
            <a:pPr algn="ctr">
              <a:defRPr sz="1400" b="1">
                <a:solidFill>
                  <a:srgbClr val="FFFFFF"/>
                </a:solidFill>
                <a:latin typeface="Arial"/>
              </a:defRPr>
            </a:pPr>
            <a:r>
              <a:t>PHASE 2: PROTOTYPING</a:t>
            </a:r>
          </a:p>
        </p:txBody>
      </p:sp>
      <p:sp>
        <p:nvSpPr>
          <p:cNvPr id="14" name="Rounded Rectangle 13"/>
          <p:cNvSpPr/>
          <p:nvPr/>
        </p:nvSpPr>
        <p:spPr>
          <a:xfrm>
            <a:off x="3383280" y="3200400"/>
            <a:ext cx="2697480" cy="32004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3291840"/>
            <a:ext cx="2468880" cy="3017520"/>
          </a:xfrm>
          <a:prstGeom prst="rect">
            <a:avLst/>
          </a:prstGeom>
          <a:noFill/>
        </p:spPr>
        <p:txBody>
          <a:bodyPr wrap="square">
            <a:spAutoFit/>
          </a:bodyPr>
          <a:lstStyle/>
          <a:p>
            <a:pPr>
              <a:spcAft>
                <a:spcPts val="0"/>
              </a:spcAft>
            </a:pPr>
            <a:r>
              <a:rPr b="1" sz="1300">
                <a:solidFill>
                  <a:srgbClr val="262626"/>
                </a:solidFill>
                <a:latin typeface="Arial"/>
              </a:rPr>
              <a:t/>
            </a:r>
            <a:r>
              <a:rPr b="0" sz="1300">
                <a:solidFill>
                  <a:srgbClr val="262626"/>
                </a:solidFill>
                <a:latin typeface="Arial"/>
              </a:rPr>
              <a:t>UI/UX Figma Wireframing &amp; Design Systems:
Constructing atomic design tokens, interactive prototypes, and testing responsive interface behaviors before code implementation.</a:t>
            </a:r>
          </a:p>
        </p:txBody>
      </p:sp>
      <p:sp>
        <p:nvSpPr>
          <p:cNvPr id="16" name="Right Arrow 15"/>
          <p:cNvSpPr/>
          <p:nvPr/>
        </p:nvSpPr>
        <p:spPr>
          <a:xfrm>
            <a:off x="6126480" y="4480560"/>
            <a:ext cx="73152" cy="274320"/>
          </a:xfrm>
          <a:prstGeom prst="rightArrow">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2560320"/>
            <a:ext cx="269748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2633472"/>
            <a:ext cx="2697480" cy="457200"/>
          </a:xfrm>
          <a:prstGeom prst="rect">
            <a:avLst/>
          </a:prstGeom>
          <a:noFill/>
        </p:spPr>
        <p:txBody>
          <a:bodyPr wrap="none">
            <a:spAutoFit/>
          </a:bodyPr>
          <a:lstStyle/>
          <a:p>
            <a:pPr algn="ctr">
              <a:defRPr sz="1400" b="1">
                <a:solidFill>
                  <a:srgbClr val="FFFFFF"/>
                </a:solidFill>
                <a:latin typeface="Arial"/>
              </a:defRPr>
            </a:pPr>
            <a:r>
              <a:t>PHASE 3: IMPLEMENTATION</a:t>
            </a:r>
          </a:p>
        </p:txBody>
      </p:sp>
      <p:sp>
        <p:nvSpPr>
          <p:cNvPr id="19" name="Rounded Rectangle 18"/>
          <p:cNvSpPr/>
          <p:nvPr/>
        </p:nvSpPr>
        <p:spPr>
          <a:xfrm>
            <a:off x="6217920" y="3200400"/>
            <a:ext cx="2697480" cy="32004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7648" y="3291840"/>
            <a:ext cx="2468880" cy="3017520"/>
          </a:xfrm>
          <a:prstGeom prst="rect">
            <a:avLst/>
          </a:prstGeom>
          <a:noFill/>
        </p:spPr>
        <p:txBody>
          <a:bodyPr wrap="square">
            <a:spAutoFit/>
          </a:bodyPr>
          <a:lstStyle/>
          <a:p>
            <a:pPr>
              <a:spcAft>
                <a:spcPts val="0"/>
              </a:spcAft>
            </a:pPr>
            <a:r>
              <a:rPr b="1" sz="1300">
                <a:solidFill>
                  <a:srgbClr val="262626"/>
                </a:solidFill>
                <a:latin typeface="Arial"/>
              </a:rPr>
              <a:t/>
            </a:r>
            <a:r>
              <a:rPr b="0" sz="1300">
                <a:solidFill>
                  <a:srgbClr val="262626"/>
                </a:solidFill>
                <a:latin typeface="Arial"/>
              </a:rPr>
              <a:t>Full-Stack Code Execution (MERN &amp; Modular DOM):
Programming semantic HTML/CSS, React functional components, stateful hooks, and Express RESTful backend endpoints.</a:t>
            </a:r>
          </a:p>
        </p:txBody>
      </p:sp>
      <p:sp>
        <p:nvSpPr>
          <p:cNvPr id="21" name="Right Arrow 20"/>
          <p:cNvSpPr/>
          <p:nvPr/>
        </p:nvSpPr>
        <p:spPr>
          <a:xfrm>
            <a:off x="8961120" y="4480560"/>
            <a:ext cx="73152" cy="274320"/>
          </a:xfrm>
          <a:prstGeom prst="rightArrow">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52560" y="2560320"/>
            <a:ext cx="269748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2633472"/>
            <a:ext cx="2697480" cy="457200"/>
          </a:xfrm>
          <a:prstGeom prst="rect">
            <a:avLst/>
          </a:prstGeom>
          <a:noFill/>
        </p:spPr>
        <p:txBody>
          <a:bodyPr wrap="none">
            <a:spAutoFit/>
          </a:bodyPr>
          <a:lstStyle/>
          <a:p>
            <a:pPr algn="ctr">
              <a:defRPr sz="1400" b="1">
                <a:solidFill>
                  <a:srgbClr val="FFFFFF"/>
                </a:solidFill>
                <a:latin typeface="Arial"/>
              </a:defRPr>
            </a:pPr>
            <a:r>
              <a:t>PHASE 4: VERIFICATION</a:t>
            </a:r>
          </a:p>
        </p:txBody>
      </p:sp>
      <p:sp>
        <p:nvSpPr>
          <p:cNvPr id="24" name="Rounded Rectangle 23"/>
          <p:cNvSpPr/>
          <p:nvPr/>
        </p:nvSpPr>
        <p:spPr>
          <a:xfrm>
            <a:off x="9052560" y="3200400"/>
            <a:ext cx="2697480" cy="32004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62288" y="3291840"/>
            <a:ext cx="2468880" cy="3017520"/>
          </a:xfrm>
          <a:prstGeom prst="rect">
            <a:avLst/>
          </a:prstGeom>
          <a:noFill/>
        </p:spPr>
        <p:txBody>
          <a:bodyPr wrap="square">
            <a:spAutoFit/>
          </a:bodyPr>
          <a:lstStyle/>
          <a:p>
            <a:pPr>
              <a:spcAft>
                <a:spcPts val="0"/>
              </a:spcAft>
            </a:pPr>
            <a:r>
              <a:rPr b="1" sz="1300">
                <a:solidFill>
                  <a:srgbClr val="262626"/>
                </a:solidFill>
                <a:latin typeface="Arial"/>
              </a:rPr>
              <a:t/>
            </a:r>
            <a:r>
              <a:rPr b="0" sz="1300">
                <a:solidFill>
                  <a:srgbClr val="262626"/>
                </a:solidFill>
                <a:latin typeface="Arial"/>
              </a:rPr>
              <a:t>Rigorous Testing &amp; Vite Production Deployment:
Verifying endpoint JSON responses via Postman, testing JWT security boundaries, and bundling production code via Vite.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PART 2: VERIFIED TECHNICAL TOOL SET</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Enterprise Technology Stack &amp; Engineering Toolchain</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361188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3611880" cy="457200"/>
          </a:xfrm>
          <a:prstGeom prst="rect">
            <a:avLst/>
          </a:prstGeom>
          <a:noFill/>
        </p:spPr>
        <p:txBody>
          <a:bodyPr wrap="none">
            <a:spAutoFit/>
          </a:bodyPr>
          <a:lstStyle/>
          <a:p>
            <a:pPr algn="ctr">
              <a:defRPr sz="1500" b="1">
                <a:solidFill>
                  <a:srgbClr val="FFFFFF"/>
                </a:solidFill>
                <a:latin typeface="Arial"/>
              </a:defRPr>
            </a:pPr>
            <a:r>
              <a:t>Core Frontend Architecture</a:t>
            </a:r>
          </a:p>
        </p:txBody>
      </p:sp>
      <p:sp>
        <p:nvSpPr>
          <p:cNvPr id="7" name="Rounded Rectangle 6"/>
          <p:cNvSpPr/>
          <p:nvPr/>
        </p:nvSpPr>
        <p:spPr>
          <a:xfrm>
            <a:off x="548640" y="2286000"/>
            <a:ext cx="3611880" cy="41148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77440"/>
            <a:ext cx="3337560" cy="3931920"/>
          </a:xfrm>
          <a:prstGeom prst="rect">
            <a:avLst/>
          </a:prstGeom>
          <a:noFill/>
        </p:spPr>
        <p:txBody>
          <a:bodyPr wrap="square">
            <a:spAutoFit/>
          </a:bodyPr>
          <a:lstStyle/>
          <a:p>
            <a:pPr>
              <a:spcAft>
                <a:spcPts val="1000"/>
              </a:spcAft>
            </a:pPr>
            <a:r>
              <a:rPr b="1" sz="1200">
                <a:solidFill>
                  <a:srgbClr val="262626"/>
                </a:solidFill>
                <a:latin typeface="Arial"/>
              </a:rPr>
              <a:t>• React.js (v19.2.5): </a:t>
            </a:r>
            <a:r>
              <a:rPr b="0" sz="1200">
                <a:solidFill>
                  <a:srgbClr val="262626"/>
                </a:solidFill>
                <a:latin typeface="Arial"/>
              </a:rPr>
              <a:t>Component-driven reactive UI framework utilizing functional declarative state hooks and modular composition.</a:t>
            </a:r>
          </a:p>
          <a:p>
            <a:pPr>
              <a:spcAft>
                <a:spcPts val="1000"/>
              </a:spcAft>
            </a:pPr>
            <a:r>
              <a:rPr b="1" sz="1200">
                <a:solidFill>
                  <a:srgbClr val="262626"/>
                </a:solidFill>
                <a:latin typeface="Arial"/>
              </a:rPr>
              <a:t>• Vite (v8.0.10): </a:t>
            </a:r>
            <a:r>
              <a:rPr b="0" sz="1200">
                <a:solidFill>
                  <a:srgbClr val="262626"/>
                </a:solidFill>
                <a:latin typeface="Arial"/>
              </a:rPr>
              <a:t>Next-generation fast bundler providing instantaneous Hot-Module Replacement (HMR) and optimized production minification.</a:t>
            </a:r>
          </a:p>
          <a:p>
            <a:pPr>
              <a:spcAft>
                <a:spcPts val="1000"/>
              </a:spcAft>
            </a:pPr>
            <a:r>
              <a:rPr b="1" sz="1200">
                <a:solidFill>
                  <a:srgbClr val="262626"/>
                </a:solidFill>
                <a:latin typeface="Arial"/>
              </a:rPr>
              <a:t>• HTML5 &amp; CSS3: </a:t>
            </a:r>
            <a:r>
              <a:rPr b="0" sz="1200">
                <a:solidFill>
                  <a:srgbClr val="262626"/>
                </a:solidFill>
                <a:latin typeface="Arial"/>
              </a:rPr>
              <a:t>Semantic structural markup paired with zero-dependency custom HSL design tokens and Flexbox/Grid layouts.</a:t>
            </a:r>
          </a:p>
          <a:p>
            <a:pPr>
              <a:spcAft>
                <a:spcPts val="1000"/>
              </a:spcAft>
            </a:pPr>
            <a:r>
              <a:rPr b="1" sz="1200">
                <a:solidFill>
                  <a:srgbClr val="262626"/>
                </a:solidFill>
                <a:latin typeface="Arial"/>
              </a:rPr>
              <a:t>• Vanilla JavaScript (ES6+): </a:t>
            </a:r>
            <a:r>
              <a:rPr b="0" sz="1200">
                <a:solidFill>
                  <a:srgbClr val="262626"/>
                </a:solidFill>
                <a:latin typeface="Arial"/>
              </a:rPr>
              <a:t>Lightweight asynchronous client-side controllers and DOM manipulating state engines.</a:t>
            </a:r>
          </a:p>
        </p:txBody>
      </p:sp>
      <p:sp>
        <p:nvSpPr>
          <p:cNvPr id="9" name="Rounded Rectangle 8"/>
          <p:cNvSpPr/>
          <p:nvPr/>
        </p:nvSpPr>
        <p:spPr>
          <a:xfrm>
            <a:off x="4343400" y="1645920"/>
            <a:ext cx="361188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691640"/>
            <a:ext cx="3611880" cy="457200"/>
          </a:xfrm>
          <a:prstGeom prst="rect">
            <a:avLst/>
          </a:prstGeom>
          <a:noFill/>
        </p:spPr>
        <p:txBody>
          <a:bodyPr wrap="none">
            <a:spAutoFit/>
          </a:bodyPr>
          <a:lstStyle/>
          <a:p>
            <a:pPr algn="ctr">
              <a:defRPr sz="1500" b="1">
                <a:solidFill>
                  <a:srgbClr val="FFFFFF"/>
                </a:solidFill>
                <a:latin typeface="Arial"/>
              </a:defRPr>
            </a:pPr>
            <a:r>
              <a:t>Backend &amp; Data Layer</a:t>
            </a:r>
          </a:p>
        </p:txBody>
      </p:sp>
      <p:sp>
        <p:nvSpPr>
          <p:cNvPr id="11" name="Rounded Rectangle 10"/>
          <p:cNvSpPr/>
          <p:nvPr/>
        </p:nvSpPr>
        <p:spPr>
          <a:xfrm>
            <a:off x="4343400" y="2286000"/>
            <a:ext cx="3611880" cy="41148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377440"/>
            <a:ext cx="3337560" cy="3931920"/>
          </a:xfrm>
          <a:prstGeom prst="rect">
            <a:avLst/>
          </a:prstGeom>
          <a:noFill/>
        </p:spPr>
        <p:txBody>
          <a:bodyPr wrap="square">
            <a:spAutoFit/>
          </a:bodyPr>
          <a:lstStyle/>
          <a:p>
            <a:pPr>
              <a:spcAft>
                <a:spcPts val="1000"/>
              </a:spcAft>
            </a:pPr>
            <a:r>
              <a:rPr b="1" sz="1200">
                <a:solidFill>
                  <a:srgbClr val="262626"/>
                </a:solidFill>
                <a:latin typeface="Arial"/>
              </a:rPr>
              <a:t>• Node.js (v20+): </a:t>
            </a:r>
            <a:r>
              <a:rPr b="0" sz="1200">
                <a:solidFill>
                  <a:srgbClr val="262626"/>
                </a:solidFill>
                <a:latin typeface="Arial"/>
              </a:rPr>
              <a:t>Asynchronous event-driven server runtime providing scalable I/O execution for enterprise endpoints.</a:t>
            </a:r>
          </a:p>
          <a:p>
            <a:pPr>
              <a:spcAft>
                <a:spcPts val="1000"/>
              </a:spcAft>
            </a:pPr>
            <a:r>
              <a:rPr b="1" sz="1200">
                <a:solidFill>
                  <a:srgbClr val="262626"/>
                </a:solidFill>
                <a:latin typeface="Arial"/>
              </a:rPr>
              <a:t>• Express.js (v4.21.2): </a:t>
            </a:r>
            <a:r>
              <a:rPr b="0" sz="1200">
                <a:solidFill>
                  <a:srgbClr val="262626"/>
                </a:solidFill>
                <a:latin typeface="Arial"/>
              </a:rPr>
              <a:t>Minimalist web application routing framework structuring stateless REST API gateways and middleware pipelines.</a:t>
            </a:r>
          </a:p>
          <a:p>
            <a:pPr>
              <a:spcAft>
                <a:spcPts val="1000"/>
              </a:spcAft>
            </a:pPr>
            <a:r>
              <a:rPr b="1" sz="1200">
                <a:solidFill>
                  <a:srgbClr val="262626"/>
                </a:solidFill>
                <a:latin typeface="Arial"/>
              </a:rPr>
              <a:t>• MongoDB (v7.0+): </a:t>
            </a:r>
            <a:r>
              <a:rPr b="0" sz="1200">
                <a:solidFill>
                  <a:srgbClr val="262626"/>
                </a:solidFill>
                <a:latin typeface="Arial"/>
              </a:rPr>
              <a:t>High-performance NoSQL document data store accommodating flexible medical inventory specification schemas.</a:t>
            </a:r>
          </a:p>
          <a:p>
            <a:pPr>
              <a:spcAft>
                <a:spcPts val="1000"/>
              </a:spcAft>
            </a:pPr>
            <a:r>
              <a:rPr b="1" sz="1200">
                <a:solidFill>
                  <a:srgbClr val="262626"/>
                </a:solidFill>
                <a:latin typeface="Arial"/>
              </a:rPr>
              <a:t>• Mongoose ODM (v8.9.1): </a:t>
            </a:r>
            <a:r>
              <a:rPr b="0" sz="1200">
                <a:solidFill>
                  <a:srgbClr val="262626"/>
                </a:solidFill>
                <a:latin typeface="Arial"/>
              </a:rPr>
              <a:t>Object Document Mapper enforcing rigorous schema field validation, enumeration restrictions, and selective indexing.</a:t>
            </a:r>
          </a:p>
        </p:txBody>
      </p:sp>
      <p:sp>
        <p:nvSpPr>
          <p:cNvPr id="13" name="Rounded Rectangle 12"/>
          <p:cNvSpPr/>
          <p:nvPr/>
        </p:nvSpPr>
        <p:spPr>
          <a:xfrm>
            <a:off x="8138160" y="1645920"/>
            <a:ext cx="361188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691640"/>
            <a:ext cx="3611880" cy="457200"/>
          </a:xfrm>
          <a:prstGeom prst="rect">
            <a:avLst/>
          </a:prstGeom>
          <a:noFill/>
        </p:spPr>
        <p:txBody>
          <a:bodyPr wrap="none">
            <a:spAutoFit/>
          </a:bodyPr>
          <a:lstStyle/>
          <a:p>
            <a:pPr algn="ctr">
              <a:defRPr sz="1500" b="1">
                <a:solidFill>
                  <a:srgbClr val="FFFFFF"/>
                </a:solidFill>
                <a:latin typeface="Arial"/>
              </a:defRPr>
            </a:pPr>
            <a:r>
              <a:t>Security &amp; Utilities</a:t>
            </a:r>
          </a:p>
        </p:txBody>
      </p:sp>
      <p:sp>
        <p:nvSpPr>
          <p:cNvPr id="15" name="Rounded Rectangle 14"/>
          <p:cNvSpPr/>
          <p:nvPr/>
        </p:nvSpPr>
        <p:spPr>
          <a:xfrm>
            <a:off x="8138160" y="2286000"/>
            <a:ext cx="3611880" cy="41148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2377440"/>
            <a:ext cx="3337560" cy="3931920"/>
          </a:xfrm>
          <a:prstGeom prst="rect">
            <a:avLst/>
          </a:prstGeom>
          <a:noFill/>
        </p:spPr>
        <p:txBody>
          <a:bodyPr wrap="square">
            <a:spAutoFit/>
          </a:bodyPr>
          <a:lstStyle/>
          <a:p>
            <a:pPr>
              <a:spcAft>
                <a:spcPts val="1000"/>
              </a:spcAft>
            </a:pPr>
            <a:r>
              <a:rPr b="1" sz="1200">
                <a:solidFill>
                  <a:srgbClr val="262626"/>
                </a:solidFill>
                <a:latin typeface="Arial"/>
              </a:rPr>
              <a:t>• BcryptJS (v3.0.3): </a:t>
            </a:r>
            <a:r>
              <a:rPr b="0" sz="1200">
                <a:solidFill>
                  <a:srgbClr val="262626"/>
                </a:solidFill>
                <a:latin typeface="Arial"/>
              </a:rPr>
              <a:t>Cryptographic library executing one-way salted password hashing to secure administrative credentials in MongoDB.</a:t>
            </a:r>
          </a:p>
          <a:p>
            <a:pPr>
              <a:spcAft>
                <a:spcPts val="1000"/>
              </a:spcAft>
            </a:pPr>
            <a:r>
              <a:rPr b="1" sz="1200">
                <a:solidFill>
                  <a:srgbClr val="262626"/>
                </a:solidFill>
                <a:latin typeface="Arial"/>
              </a:rPr>
              <a:t>• JSON Web Tokens (v9.0.3): </a:t>
            </a:r>
            <a:r>
              <a:rPr b="0" sz="1200">
                <a:solidFill>
                  <a:srgbClr val="262626"/>
                </a:solidFill>
                <a:latin typeface="Arial"/>
              </a:rPr>
              <a:t>Stateless authorization protocol signing cryptographic bearer tokens required for protected inventory operations.</a:t>
            </a:r>
          </a:p>
          <a:p>
            <a:pPr>
              <a:spcAft>
                <a:spcPts val="1000"/>
              </a:spcAft>
            </a:pPr>
            <a:r>
              <a:rPr b="1" sz="1200">
                <a:solidFill>
                  <a:srgbClr val="262626"/>
                </a:solidFill>
                <a:latin typeface="Arial"/>
              </a:rPr>
              <a:t>• Multer &amp; CSV-Parser: </a:t>
            </a:r>
            <a:r>
              <a:rPr b="0" sz="1200">
                <a:solidFill>
                  <a:srgbClr val="262626"/>
                </a:solidFill>
                <a:latin typeface="Arial"/>
              </a:rPr>
              <a:t>Server-side middleware handling rapid multi-part image storage and streaming bulk spreadsheet ingestion.</a:t>
            </a:r>
          </a:p>
          <a:p>
            <a:pPr>
              <a:spcAft>
                <a:spcPts val="1000"/>
              </a:spcAft>
            </a:pPr>
            <a:r>
              <a:rPr b="1" sz="1200">
                <a:solidFill>
                  <a:srgbClr val="262626"/>
                </a:solidFill>
                <a:latin typeface="Arial"/>
              </a:rPr>
              <a:t>• Postman &amp; Git Toolchain: </a:t>
            </a:r>
            <a:r>
              <a:rPr b="0" sz="1200">
                <a:solidFill>
                  <a:srgbClr val="262626"/>
                </a:solidFill>
                <a:latin typeface="Arial"/>
              </a:rPr>
              <a:t>Version-controlled codebase management coupled with automated REST API simulation testing.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1: HEALTHCARE EQUIPMENT DIGITAL PORTAL</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1: Pranayuv Landing Page Documentation</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400"/>
              </a:spcAft>
            </a:pPr>
            <a:r>
              <a:rPr b="1" sz="1500">
                <a:solidFill>
                  <a:srgbClr val="1F4E79"/>
                </a:solidFill>
                <a:latin typeface="Arial"/>
              </a:rPr>
              <a:t>Project Identification &amp; Domain: </a:t>
            </a:r>
            <a:r>
              <a:rPr b="0" sz="1500">
                <a:solidFill>
                  <a:srgbClr val="1F4E79"/>
                </a:solidFill>
                <a:latin typeface="Arial"/>
              </a:rPr>
              <a:t>An interactive, corporate medical infrastructure landing page customized specifically for Pranayuv's hospital furniture and clean room equipment offerings.</a:t>
            </a:r>
          </a:p>
          <a:p>
            <a:pPr>
              <a:spcAft>
                <a:spcPts val="1400"/>
              </a:spcAft>
            </a:pPr>
            <a:r>
              <a:rPr b="1" sz="1400">
                <a:solidFill>
                  <a:srgbClr val="262626"/>
                </a:solidFill>
                <a:latin typeface="Arial"/>
              </a:rPr>
              <a:t>Business Purpose &amp; Problem Solved: </a:t>
            </a:r>
            <a:r>
              <a:rPr b="0" sz="1400">
                <a:solidFill>
                  <a:srgbClr val="262626"/>
                </a:solidFill>
                <a:latin typeface="Arial"/>
              </a:rPr>
              <a:t>Legacy healthcare equipment suppliers suffer from severe lead conversion friction due to traditional paper catalogs and unresponsive web presence. This project resolved client acquisition hurdles by designing a highly intuitive digital equipment catalog featuring immediate quotation inquiry mechanisms.</a:t>
            </a:r>
          </a:p>
          <a:p>
            <a:pPr>
              <a:spcAft>
                <a:spcPts val="1000"/>
              </a:spcAft>
            </a:pPr>
            <a:r>
              <a:rPr b="1" sz="1400">
                <a:solidFill>
                  <a:srgbClr val="262626"/>
                </a:solidFill>
                <a:latin typeface="Arial"/>
              </a:rPr>
              <a:t>Verified Folder &amp; Asset Structure: </a:t>
            </a:r>
            <a:r>
              <a:rPr b="0" sz="1400">
                <a:solidFill>
                  <a:srgbClr val="262626"/>
                </a:solidFill>
                <a:latin typeface="Arial"/>
              </a:rPr>
              <a:t>Engineered around a single-page optimized architecture rooted at `/index.html`, utilizing embedded custom styling design tokens and streamlined local image asset referencing.</a:t>
            </a:r>
          </a:p>
        </p:txBody>
      </p:sp>
      <p:sp>
        <p:nvSpPr>
          <p:cNvPr id="7" name="Rounded Rectangle 6"/>
          <p:cNvSpPr/>
          <p:nvPr/>
        </p:nvSpPr>
        <p:spPr>
          <a:xfrm>
            <a:off x="621792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800">
                <a:solidFill>
                  <a:srgbClr val="FFFFFF"/>
                </a:solidFill>
                <a:latin typeface="Arial"/>
              </a:rPr>
              <a:t>Engineering Excellence &amp; Value Proposition: </a:t>
            </a:r>
            <a:r>
              <a:rPr b="0" sz="1800">
                <a:solidFill>
                  <a:srgbClr val="FFFFFF"/>
                </a:solidFill>
                <a:latin typeface="Arial"/>
              </a:rPr>
              <a:t/>
            </a:r>
          </a:p>
          <a:p>
            <a:pPr>
              <a:spcAft>
                <a:spcPts val="1400"/>
              </a:spcAft>
            </a:pPr>
            <a:r>
              <a:rPr b="1" sz="1400">
                <a:solidFill>
                  <a:srgbClr val="FFFFFF"/>
                </a:solidFill>
                <a:latin typeface="Arial"/>
              </a:rPr>
              <a:t>✔ High-Speed Semantic Architecture: </a:t>
            </a:r>
            <a:r>
              <a:rPr b="0" sz="1400">
                <a:solidFill>
                  <a:srgbClr val="FFFFFF"/>
                </a:solidFill>
                <a:latin typeface="Arial"/>
              </a:rPr>
              <a:t>Constructed with clean HTML5 `&lt;section&gt;` hierarchies that maximize search engine indexing and ensure accessibility compliance across institutional browsers.</a:t>
            </a:r>
          </a:p>
          <a:p>
            <a:pPr>
              <a:spcAft>
                <a:spcPts val="1400"/>
              </a:spcAft>
            </a:pPr>
            <a:r>
              <a:rPr b="1" sz="1400">
                <a:solidFill>
                  <a:srgbClr val="FFFFFF"/>
                </a:solidFill>
                <a:latin typeface="Arial"/>
              </a:rPr>
              <a:t>✔ Zero External Library Dependency: </a:t>
            </a:r>
            <a:r>
              <a:rPr b="0" sz="1400">
                <a:solidFill>
                  <a:srgbClr val="FFFFFF"/>
                </a:solidFill>
                <a:latin typeface="Arial"/>
              </a:rPr>
              <a:t>Designed entirely without heavy styling frameworks (such as Bootstrap or Tailwind), completely eliminating unused utility bloat and achieving instantaneous browser DOM painting.</a:t>
            </a:r>
          </a:p>
          <a:p>
            <a:pPr>
              <a:spcAft>
                <a:spcPts val="1000"/>
              </a:spcAft>
            </a:pPr>
            <a:r>
              <a:rPr b="1" sz="1400">
                <a:solidFill>
                  <a:srgbClr val="FFFFFF"/>
                </a:solidFill>
                <a:latin typeface="Arial"/>
              </a:rPr>
              <a:t>✔ Direct Client Quotation Funnels: </a:t>
            </a:r>
            <a:r>
              <a:rPr b="0" sz="1400">
                <a:solidFill>
                  <a:srgbClr val="FFFFFF"/>
                </a:solidFill>
                <a:latin typeface="Arial"/>
              </a:rPr>
              <a:t>Integrated reactive interactive customer quotation triggers allowing hospital directors to select clean room specs and request vendor orders instantly.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1: ACTUAL WORKSPACE ENGINEERING IMPLEMENTATION</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1: Technical Work Description &amp; DOM Analysis</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400"/>
              </a:spcAft>
            </a:pPr>
            <a:r>
              <a:rPr b="1" sz="1500">
                <a:solidFill>
                  <a:srgbClr val="1F4E79"/>
                </a:solidFill>
                <a:latin typeface="Arial"/>
              </a:rPr>
              <a:t>Documented Codebase Responsibilities: </a:t>
            </a:r>
            <a:r>
              <a:rPr b="0" sz="1500">
                <a:solidFill>
                  <a:srgbClr val="1F4E79"/>
                </a:solidFill>
                <a:latin typeface="Arial"/>
              </a:rPr>
              <a:t>Engineered the full DOM layout hierarchy, designed custom HSL color palette variables, programmed responsive CSS media breakpoints, and styled product feature cards.</a:t>
            </a:r>
          </a:p>
          <a:p>
            <a:pPr>
              <a:spcAft>
                <a:spcPts val="1400"/>
              </a:spcAft>
            </a:pPr>
            <a:r>
              <a:rPr b="1" sz="1400">
                <a:solidFill>
                  <a:srgbClr val="262626"/>
                </a:solidFill>
                <a:latin typeface="Arial"/>
              </a:rPr>
              <a:t>Responsive Layout &amp; Media Queries: </a:t>
            </a:r>
            <a:r>
              <a:rPr b="0" sz="1400">
                <a:solidFill>
                  <a:srgbClr val="262626"/>
                </a:solidFill>
                <a:latin typeface="Arial"/>
              </a:rPr>
              <a:t>Implemented standard fluid design principles. Using custom `@media (max-width: 768px)` breakpoints, multi-column equipment showcases dynamically collapse into single-column vertical touch layouts without text distortion.</a:t>
            </a:r>
          </a:p>
          <a:p>
            <a:pPr>
              <a:spcAft>
                <a:spcPts val="1000"/>
              </a:spcAft>
            </a:pPr>
            <a:r>
              <a:rPr b="1" sz="1400">
                <a:solidFill>
                  <a:srgbClr val="262626"/>
                </a:solidFill>
                <a:latin typeface="Arial"/>
              </a:rPr>
              <a:t>Visual UI/UX Highlights: </a:t>
            </a:r>
            <a:r>
              <a:rPr b="0" sz="1400">
                <a:solidFill>
                  <a:srgbClr val="262626"/>
                </a:solidFill>
                <a:latin typeface="Arial"/>
              </a:rPr>
              <a:t>Harmonized a clinical color scheme composed of Surgical White backgrounds contrasted against Deep Corporate Navy text (`#1F4E79`), supported by engaging hover micro-animations on product selection boxes.</a:t>
            </a:r>
          </a:p>
        </p:txBody>
      </p:sp>
      <p:sp>
        <p:nvSpPr>
          <p:cNvPr id="7" name="Rounded Rectangle 6"/>
          <p:cNvSpPr/>
          <p:nvPr/>
        </p:nvSpPr>
        <p:spPr>
          <a:xfrm>
            <a:off x="6217920" y="1645920"/>
            <a:ext cx="5394960" cy="4572000"/>
          </a:xfrm>
          <a:prstGeom prst="roundRect">
            <a:avLst/>
          </a:prstGeom>
          <a:solidFill>
            <a:srgbClr val="F2F4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700">
                <a:solidFill>
                  <a:srgbClr val="1F4E79"/>
                </a:solidFill>
                <a:latin typeface="Arial"/>
              </a:rPr>
              <a:t>Demonstrated Competencies &amp; Outcomes: </a:t>
            </a:r>
            <a:r>
              <a:rPr b="0" sz="1700">
                <a:solidFill>
                  <a:srgbClr val="1F4E79"/>
                </a:solidFill>
                <a:latin typeface="Arial"/>
              </a:rPr>
              <a:t/>
            </a:r>
          </a:p>
          <a:p>
            <a:pPr>
              <a:spcAft>
                <a:spcPts val="1400"/>
              </a:spcAft>
            </a:pPr>
            <a:r>
              <a:rPr b="1" sz="1400">
                <a:solidFill>
                  <a:srgbClr val="262626"/>
                </a:solidFill>
                <a:latin typeface="Arial"/>
              </a:rPr>
              <a:t>✔ Cross-Browser Rendering Consistency: </a:t>
            </a:r>
            <a:r>
              <a:rPr b="0" sz="1400">
                <a:solidFill>
                  <a:srgbClr val="262626"/>
                </a:solidFill>
                <a:latin typeface="Arial"/>
              </a:rPr>
              <a:t>Verified structural uniformity across modern Chromium, FireFox, and Safari web browsing architectures.</a:t>
            </a:r>
          </a:p>
          <a:p>
            <a:pPr>
              <a:spcAft>
                <a:spcPts val="1400"/>
              </a:spcAft>
            </a:pPr>
            <a:r>
              <a:rPr b="1" sz="1400">
                <a:solidFill>
                  <a:srgbClr val="262626"/>
                </a:solidFill>
                <a:latin typeface="Arial"/>
              </a:rPr>
              <a:t>✔ Dom Tree Optimization &amp; Accessibility: </a:t>
            </a:r>
            <a:r>
              <a:rPr b="0" sz="1400">
                <a:solidFill>
                  <a:srgbClr val="262626"/>
                </a:solidFill>
                <a:latin typeface="Arial"/>
              </a:rPr>
              <a:t>Maintained a shallow DOM tree depth to prevent layout reflow bottlenecks during dynamic scroll behavior, incorporating ARIA attributes and descriptive image alt-tags for screen readers.</a:t>
            </a:r>
          </a:p>
          <a:p>
            <a:pPr>
              <a:spcAft>
                <a:spcPts val="1000"/>
              </a:spcAft>
            </a:pPr>
            <a:r>
              <a:rPr b="1" sz="1400">
                <a:solidFill>
                  <a:srgbClr val="262626"/>
                </a:solidFill>
                <a:latin typeface="Arial"/>
              </a:rPr>
              <a:t>✔ Industry Readiness Verified: </a:t>
            </a:r>
            <a:r>
              <a:rPr b="0" sz="1400">
                <a:solidFill>
                  <a:srgbClr val="262626"/>
                </a:solidFill>
                <a:latin typeface="Arial"/>
              </a:rPr>
              <a:t>Proven capability to construct high-conversion corporate landing pages meeting commercial brand standards independently.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2: EDUCATIONAL ERP FIGMA PROTOTYPE ARCHITECTURE</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2: EduNexus School Website UI/UX Engineering</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400"/>
              </a:spcAft>
            </a:pPr>
            <a:r>
              <a:rPr b="1" sz="1500">
                <a:solidFill>
                  <a:srgbClr val="1F4E79"/>
                </a:solidFill>
                <a:latin typeface="Arial"/>
              </a:rPr>
              <a:t>Project Identification &amp; Focus: </a:t>
            </a:r>
            <a:r>
              <a:rPr b="0" sz="1500">
                <a:solidFill>
                  <a:srgbClr val="1F4E79"/>
                </a:solidFill>
                <a:latin typeface="Arial"/>
              </a:rPr>
              <a:t>A comprehensive UI/UX interface design suite and high-fidelity wireframe prototype architecture for a modern, next-generation school administration software platform.</a:t>
            </a:r>
          </a:p>
          <a:p>
            <a:pPr>
              <a:spcAft>
                <a:spcPts val="1400"/>
              </a:spcAft>
            </a:pPr>
            <a:r>
              <a:rPr b="1" sz="1400">
                <a:solidFill>
                  <a:srgbClr val="262626"/>
                </a:solidFill>
                <a:latin typeface="Arial"/>
              </a:rPr>
              <a:t>Business Purpose &amp; Problem Solved: </a:t>
            </a:r>
            <a:r>
              <a:rPr b="0" sz="1400">
                <a:solidFill>
                  <a:srgbClr val="262626"/>
                </a:solidFill>
                <a:latin typeface="Arial"/>
              </a:rPr>
              <a:t>Academic institutions frequently struggle with outdated, cluttered management software that frustrates faculty and students alike. EduNexus established a rigorous interface design phase before coding began, solving institutional UI friction and eliminating expensive frontend refactoring down the line.</a:t>
            </a:r>
          </a:p>
          <a:p>
            <a:pPr>
              <a:spcAft>
                <a:spcPts val="1000"/>
              </a:spcAft>
            </a:pPr>
            <a:r>
              <a:rPr b="1" sz="1400">
                <a:solidFill>
                  <a:srgbClr val="262626"/>
                </a:solidFill>
                <a:latin typeface="Arial"/>
              </a:rPr>
              <a:t>Design Tooling &amp; Methodology: </a:t>
            </a:r>
            <a:r>
              <a:rPr b="0" sz="1400">
                <a:solidFill>
                  <a:srgbClr val="262626"/>
                </a:solidFill>
                <a:latin typeface="Arial"/>
              </a:rPr>
              <a:t>Created entirely inside **Figma** using atomized auto-layout constraints, unified HSL color tokens, and Google typography (Inter &amp; Roboto).</a:t>
            </a:r>
          </a:p>
        </p:txBody>
      </p:sp>
      <p:sp>
        <p:nvSpPr>
          <p:cNvPr id="7" name="Rounded Rectangle 6"/>
          <p:cNvSpPr/>
          <p:nvPr/>
        </p:nvSpPr>
        <p:spPr>
          <a:xfrm>
            <a:off x="621792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800">
                <a:solidFill>
                  <a:srgbClr val="FFFFFF"/>
                </a:solidFill>
                <a:latin typeface="Arial"/>
              </a:rPr>
              <a:t>UI/UX Engineering Principles Applied: </a:t>
            </a:r>
            <a:r>
              <a:rPr b="0" sz="1800">
                <a:solidFill>
                  <a:srgbClr val="FFFFFF"/>
                </a:solidFill>
                <a:latin typeface="Arial"/>
              </a:rPr>
              <a:t/>
            </a:r>
          </a:p>
          <a:p>
            <a:pPr>
              <a:spcAft>
                <a:spcPts val="1400"/>
              </a:spcAft>
            </a:pPr>
            <a:r>
              <a:rPr b="1" sz="1400">
                <a:solidFill>
                  <a:srgbClr val="FFFFFF"/>
                </a:solidFill>
                <a:latin typeface="Arial"/>
              </a:rPr>
              <a:t>✔ Component-Driven Design Tokens: </a:t>
            </a:r>
            <a:r>
              <a:rPr b="0" sz="1400">
                <a:solidFill>
                  <a:srgbClr val="FFFFFF"/>
                </a:solidFill>
                <a:latin typeface="Arial"/>
              </a:rPr>
              <a:t>Engineered reusable Figma UI components (navigation sidebars, metric indicator cards, interactive form fields) that mirror React functional component architecture.</a:t>
            </a:r>
          </a:p>
          <a:p>
            <a:pPr>
              <a:spcAft>
                <a:spcPts val="1400"/>
              </a:spcAft>
            </a:pPr>
            <a:r>
              <a:rPr b="1" sz="1400">
                <a:solidFill>
                  <a:srgbClr val="FFFFFF"/>
                </a:solidFill>
                <a:latin typeface="Arial"/>
              </a:rPr>
              <a:t>✔ Responsive Layout Grids: </a:t>
            </a:r>
            <a:r>
              <a:rPr b="0" sz="1400">
                <a:solidFill>
                  <a:srgbClr val="FFFFFF"/>
                </a:solidFill>
                <a:latin typeface="Arial"/>
              </a:rPr>
              <a:t>Applied strict 12-column visual grid structures and fluid margin sizing to guarantee interface legibility across interactive whiteboards, tablets, and laptops.</a:t>
            </a:r>
          </a:p>
          <a:p>
            <a:pPr>
              <a:spcAft>
                <a:spcPts val="1000"/>
              </a:spcAft>
            </a:pPr>
            <a:r>
              <a:rPr b="1" sz="1400">
                <a:solidFill>
                  <a:srgbClr val="FFFFFF"/>
                </a:solidFill>
                <a:latin typeface="Arial"/>
              </a:rPr>
              <a:t>✔ Risk &amp; Cost Mitigation: </a:t>
            </a:r>
            <a:r>
              <a:rPr b="0" sz="1400">
                <a:solidFill>
                  <a:srgbClr val="FFFFFF"/>
                </a:solidFill>
                <a:latin typeface="Arial"/>
              </a:rPr>
              <a:t>Validating user flows through high-fidelity prototypes allowed stakeholders to refine feature specifications without burning engineering hours on code rewrites.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2: MULTI-PORTAL INTERFACE EXPLANATION &amp; USER FLOWS</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2: Work Description of Designed Educational Portals</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233172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55648"/>
            <a:ext cx="5120640" cy="2103120"/>
          </a:xfrm>
          <a:prstGeom prst="rect">
            <a:avLst/>
          </a:prstGeom>
          <a:noFill/>
        </p:spPr>
        <p:txBody>
          <a:bodyPr wrap="square">
            <a:spAutoFit/>
          </a:bodyPr>
          <a:lstStyle/>
          <a:p>
            <a:pPr>
              <a:spcAft>
                <a:spcPts val="600"/>
              </a:spcAft>
            </a:pPr>
            <a:r>
              <a:rPr b="1" sz="1500">
                <a:solidFill>
                  <a:srgbClr val="1F4E79"/>
                </a:solidFill>
                <a:latin typeface="Arial"/>
              </a:rPr>
              <a:t>▲ 1. Institutional Home Portal </a:t>
            </a:r>
            <a:r>
              <a:rPr b="0" sz="1500">
                <a:solidFill>
                  <a:srgbClr val="1F4E79"/>
                </a:solidFill>
                <a:latin typeface="Arial"/>
              </a:rPr>
              <a:t/>
            </a:r>
          </a:p>
          <a:p>
            <a:pPr>
              <a:spcAft>
                <a:spcPts val="0"/>
              </a:spcAft>
            </a:pPr>
            <a:r>
              <a:rPr b="1" sz="1300">
                <a:solidFill>
                  <a:srgbClr val="262626"/>
                </a:solidFill>
                <a:latin typeface="Arial"/>
              </a:rPr>
              <a:t/>
            </a:r>
            <a:r>
              <a:rPr b="0" sz="1300">
                <a:solidFill>
                  <a:srgbClr val="262626"/>
                </a:solidFill>
                <a:latin typeface="Arial"/>
              </a:rPr>
              <a:t>Designed as the public digital identity of the educational organization. Features heroic value proposition branding, announcement ticker feeds, academic program showcases, and intuitive call-to-action buttons directing prospective candidates to admissions.</a:t>
            </a:r>
          </a:p>
        </p:txBody>
      </p:sp>
      <p:sp>
        <p:nvSpPr>
          <p:cNvPr id="7" name="Rounded Rectangle 6"/>
          <p:cNvSpPr/>
          <p:nvPr/>
        </p:nvSpPr>
        <p:spPr>
          <a:xfrm>
            <a:off x="6217920" y="1645920"/>
            <a:ext cx="5394960" cy="233172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55648"/>
            <a:ext cx="5120640" cy="2103120"/>
          </a:xfrm>
          <a:prstGeom prst="rect">
            <a:avLst/>
          </a:prstGeom>
          <a:noFill/>
        </p:spPr>
        <p:txBody>
          <a:bodyPr wrap="square">
            <a:spAutoFit/>
          </a:bodyPr>
          <a:lstStyle/>
          <a:p>
            <a:pPr>
              <a:spcAft>
                <a:spcPts val="600"/>
              </a:spcAft>
            </a:pPr>
            <a:r>
              <a:rPr b="1" sz="1500">
                <a:solidFill>
                  <a:srgbClr val="FFFFFF"/>
                </a:solidFill>
                <a:latin typeface="Arial"/>
              </a:rPr>
              <a:t>▲ 2. Admission Requirement Flow </a:t>
            </a:r>
            <a:r>
              <a:rPr b="0" sz="1500">
                <a:solidFill>
                  <a:srgbClr val="FFFFFF"/>
                </a:solidFill>
                <a:latin typeface="Arial"/>
              </a:rPr>
              <a:t/>
            </a:r>
          </a:p>
          <a:p>
            <a:pPr>
              <a:spcAft>
                <a:spcPts val="0"/>
              </a:spcAft>
            </a:pPr>
            <a:r>
              <a:rPr b="1" sz="1300">
                <a:solidFill>
                  <a:srgbClr val="DCE6F5"/>
                </a:solidFill>
                <a:latin typeface="Arial"/>
              </a:rPr>
              <a:t/>
            </a:r>
            <a:r>
              <a:rPr b="0" sz="1300">
                <a:solidFill>
                  <a:srgbClr val="DCE6F5"/>
                </a:solidFill>
                <a:latin typeface="Arial"/>
              </a:rPr>
              <a:t>Engineered to demystify complex enrollment paperwork. Replaces confusing text blocks with step-by-step visual documentation checklists, fee structure transparency tables, and clear document submission guidelines to guide parents effortlessly.</a:t>
            </a:r>
          </a:p>
        </p:txBody>
      </p:sp>
      <p:sp>
        <p:nvSpPr>
          <p:cNvPr id="9" name="Rounded Rectangle 8"/>
          <p:cNvSpPr/>
          <p:nvPr/>
        </p:nvSpPr>
        <p:spPr>
          <a:xfrm>
            <a:off x="548640" y="4206240"/>
            <a:ext cx="5394960" cy="233172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315968"/>
            <a:ext cx="5120640" cy="2103120"/>
          </a:xfrm>
          <a:prstGeom prst="rect">
            <a:avLst/>
          </a:prstGeom>
          <a:noFill/>
        </p:spPr>
        <p:txBody>
          <a:bodyPr wrap="square">
            <a:spAutoFit/>
          </a:bodyPr>
          <a:lstStyle/>
          <a:p>
            <a:pPr>
              <a:spcAft>
                <a:spcPts val="600"/>
              </a:spcAft>
            </a:pPr>
            <a:r>
              <a:rPr b="1" sz="1500">
                <a:solidFill>
                  <a:srgbClr val="1F4E79"/>
                </a:solidFill>
                <a:latin typeface="Arial"/>
              </a:rPr>
              <a:t>▲ 3. Executive Principal Dashboard </a:t>
            </a:r>
            <a:r>
              <a:rPr b="0" sz="1500">
                <a:solidFill>
                  <a:srgbClr val="1F4E79"/>
                </a:solidFill>
                <a:latin typeface="Arial"/>
              </a:rPr>
              <a:t/>
            </a:r>
          </a:p>
          <a:p>
            <a:pPr>
              <a:spcAft>
                <a:spcPts val="0"/>
              </a:spcAft>
            </a:pPr>
            <a:r>
              <a:rPr b="1" sz="1300">
                <a:solidFill>
                  <a:srgbClr val="262626"/>
                </a:solidFill>
                <a:latin typeface="Arial"/>
              </a:rPr>
              <a:t/>
            </a:r>
            <a:r>
              <a:rPr b="0" sz="1300">
                <a:solidFill>
                  <a:srgbClr val="262626"/>
                </a:solidFill>
                <a:latin typeface="Arial"/>
              </a:rPr>
              <a:t>An administrative operational center designed for school leadership. Displays high-density academic KPI metrics, real-time faculty attendance tracking charts, tuition revenue summaries, and broadcast messaging controls in a clean, professional grid.</a:t>
            </a:r>
          </a:p>
        </p:txBody>
      </p:sp>
      <p:sp>
        <p:nvSpPr>
          <p:cNvPr id="11" name="Rounded Rectangle 10"/>
          <p:cNvSpPr/>
          <p:nvPr/>
        </p:nvSpPr>
        <p:spPr>
          <a:xfrm>
            <a:off x="6217920" y="4206240"/>
            <a:ext cx="5394960" cy="233172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315968"/>
            <a:ext cx="5120640" cy="2103120"/>
          </a:xfrm>
          <a:prstGeom prst="rect">
            <a:avLst/>
          </a:prstGeom>
          <a:noFill/>
        </p:spPr>
        <p:txBody>
          <a:bodyPr wrap="square">
            <a:spAutoFit/>
          </a:bodyPr>
          <a:lstStyle/>
          <a:p>
            <a:pPr>
              <a:spcAft>
                <a:spcPts val="600"/>
              </a:spcAft>
            </a:pPr>
            <a:r>
              <a:rPr b="1" sz="1500">
                <a:solidFill>
                  <a:srgbClr val="FFFFFF"/>
                </a:solidFill>
                <a:latin typeface="Arial"/>
              </a:rPr>
              <a:t>▲ 4. Personalized Student Portal </a:t>
            </a:r>
            <a:r>
              <a:rPr b="0" sz="1500">
                <a:solidFill>
                  <a:srgbClr val="FFFFFF"/>
                </a:solidFill>
                <a:latin typeface="Arial"/>
              </a:rPr>
              <a:t/>
            </a:r>
          </a:p>
          <a:p>
            <a:pPr>
              <a:spcAft>
                <a:spcPts val="0"/>
              </a:spcAft>
            </a:pPr>
            <a:r>
              <a:rPr b="1" sz="1300">
                <a:solidFill>
                  <a:srgbClr val="DCE6F5"/>
                </a:solidFill>
                <a:latin typeface="Arial"/>
              </a:rPr>
              <a:t/>
            </a:r>
            <a:r>
              <a:rPr b="0" sz="1300">
                <a:solidFill>
                  <a:srgbClr val="DCE6F5"/>
                </a:solidFill>
                <a:latin typeface="Arial"/>
              </a:rPr>
              <a:t>A self-service academic hub customized for students. Eliminates visual clutter to present interactive timetable schedules, examination result report cards, assignment deadlines, and digital learning library access in an engaging layout.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3: DYNAMIC FRONTEND WEB APPLICATION</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3: BrightPath Academy School Management System</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400"/>
              </a:spcAft>
            </a:pPr>
            <a:r>
              <a:rPr b="1" sz="1500">
                <a:solidFill>
                  <a:srgbClr val="1F4E79"/>
                </a:solidFill>
                <a:latin typeface="Arial"/>
              </a:rPr>
              <a:t>Project Identification &amp; Domain: </a:t>
            </a:r>
            <a:r>
              <a:rPr b="0" sz="1500">
                <a:solidFill>
                  <a:srgbClr val="1F4E79"/>
                </a:solidFill>
                <a:latin typeface="Arial"/>
              </a:rPr>
              <a:t>A dynamic, multi-page frontend school management software application providing interactive portals for institutional governance and student learning engagement.</a:t>
            </a:r>
          </a:p>
          <a:p>
            <a:pPr>
              <a:spcAft>
                <a:spcPts val="1400"/>
              </a:spcAft>
            </a:pPr>
            <a:r>
              <a:rPr b="1" sz="1400">
                <a:solidFill>
                  <a:srgbClr val="262626"/>
                </a:solidFill>
                <a:latin typeface="Arial"/>
              </a:rPr>
              <a:t>Verified Tech Stack: </a:t>
            </a:r>
            <a:r>
              <a:rPr b="0" sz="1400">
                <a:solidFill>
                  <a:srgbClr val="262626"/>
                </a:solidFill>
                <a:latin typeface="Arial"/>
              </a:rPr>
              <a:t>Semantic HTML5, Custom Vanilla CSS3, Dynamic Vanilla JavaScript (ES6+) utilizing asynchronous Event Listeners and LocalStorage state controllers.</a:t>
            </a:r>
          </a:p>
          <a:p>
            <a:pPr>
              <a:spcAft>
                <a:spcPts val="1400"/>
              </a:spcAft>
            </a:pPr>
            <a:r>
              <a:rPr b="1" sz="1400">
                <a:solidFill>
                  <a:srgbClr val="262626"/>
                </a:solidFill>
                <a:latin typeface="Arial"/>
              </a:rPr>
              <a:t>Verified Codebase Repository (`/school_management`): </a:t>
            </a:r>
            <a:r>
              <a:rPr b="0" sz="1400">
                <a:solidFill>
                  <a:srgbClr val="262626"/>
                </a:solidFill>
                <a:latin typeface="Arial"/>
              </a:rPr>
              <a:t>• `index.html` (Institutional overview &amp; entrance)
• `admission.html` &amp; `registration.html` (Onboarding flows)
• `principal-dashboard (1).html` (Staff analytics)
• `student-dashboard.html` (Academic resource access)
• Direct multimedia embeds (`video.mp4`, `timetable.pdf`).</a:t>
            </a:r>
          </a:p>
        </p:txBody>
      </p:sp>
      <p:sp>
        <p:nvSpPr>
          <p:cNvPr id="7" name="Rounded Rectangle 6"/>
          <p:cNvSpPr/>
          <p:nvPr/>
        </p:nvSpPr>
        <p:spPr>
          <a:xfrm>
            <a:off x="6217920" y="1645920"/>
            <a:ext cx="5394960" cy="457200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800">
                <a:solidFill>
                  <a:srgbClr val="FFFFFF"/>
                </a:solidFill>
                <a:latin typeface="Arial"/>
              </a:rPr>
              <a:t>Business Value &amp; Operational Impact: </a:t>
            </a:r>
            <a:r>
              <a:rPr b="0" sz="1800">
                <a:solidFill>
                  <a:srgbClr val="FFFFFF"/>
                </a:solidFill>
                <a:latin typeface="Arial"/>
              </a:rPr>
              <a:t/>
            </a:r>
          </a:p>
          <a:p>
            <a:pPr>
              <a:spcAft>
                <a:spcPts val="1600"/>
              </a:spcAft>
            </a:pPr>
            <a:r>
              <a:rPr b="1" sz="1400">
                <a:solidFill>
                  <a:srgbClr val="FFFFFF"/>
                </a:solidFill>
                <a:latin typeface="Arial"/>
              </a:rPr>
              <a:t>✔ Eliminating Paper-Based Admission Delays: </a:t>
            </a:r>
            <a:r>
              <a:rPr b="0" sz="1400">
                <a:solidFill>
                  <a:srgbClr val="FFFFFF"/>
                </a:solidFill>
                <a:latin typeface="Arial"/>
              </a:rPr>
              <a:t>Replaced slow manual enrollment processing with intelligent client-side validation forms, preventing incomplete data submission.</a:t>
            </a:r>
          </a:p>
          <a:p>
            <a:pPr>
              <a:spcAft>
                <a:spcPts val="1600"/>
              </a:spcAft>
            </a:pPr>
            <a:r>
              <a:rPr b="1" sz="1400">
                <a:solidFill>
                  <a:srgbClr val="FFFFFF"/>
                </a:solidFill>
                <a:latin typeface="Arial"/>
              </a:rPr>
              <a:t>✔ Centralized Digital Resource Distribution: </a:t>
            </a:r>
            <a:r>
              <a:rPr b="0" sz="1400">
                <a:solidFill>
                  <a:srgbClr val="FFFFFF"/>
                </a:solidFill>
                <a:latin typeface="Arial"/>
              </a:rPr>
              <a:t>Empowereed students with self-service streaming of video lecture modules and instant downloading of academic PDF syllabi without server latency.</a:t>
            </a:r>
          </a:p>
          <a:p>
            <a:pPr>
              <a:spcAft>
                <a:spcPts val="1000"/>
              </a:spcAft>
            </a:pPr>
            <a:r>
              <a:rPr b="1" sz="1400">
                <a:solidFill>
                  <a:srgbClr val="FFFFFF"/>
                </a:solidFill>
                <a:latin typeface="Arial"/>
              </a:rPr>
              <a:t>✔ Lightweight Browser Execution: </a:t>
            </a:r>
            <a:r>
              <a:rPr b="0" sz="1400">
                <a:solidFill>
                  <a:srgbClr val="FFFFFF"/>
                </a:solidFill>
                <a:latin typeface="Arial"/>
              </a:rPr>
              <a:t>Constructed purely on standard browser APIs, ensuring flawless performance on legacy computers and educational computer labs.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3: ADVANCED CLIENT-SIDE INTERACTIVITY &amp; ALGORITHMIC FALLBACK</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3: AI Chatbot Architecture &amp; JS Implementation</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400"/>
              </a:spcAft>
            </a:pPr>
            <a:r>
              <a:rPr b="1" sz="1600">
                <a:solidFill>
                  <a:srgbClr val="FFFFFF"/>
                </a:solidFill>
                <a:latin typeface="Arial"/>
              </a:rPr>
              <a:t>Standout Feature: Interactive AI Chatbot Module: </a:t>
            </a:r>
            <a:r>
              <a:rPr b="0" sz="1600">
                <a:solidFill>
                  <a:srgbClr val="FFFFFF"/>
                </a:solidFill>
                <a:latin typeface="Arial"/>
              </a:rPr>
              <a:t>To alleviate administrative burden caused by repetitive helpdesk queries, I integrated an automated conversational assistant directly into the interface.</a:t>
            </a:r>
          </a:p>
          <a:p>
            <a:pPr>
              <a:spcAft>
                <a:spcPts val="1600"/>
              </a:spcAft>
            </a:pPr>
            <a:r>
              <a:rPr b="1" sz="1400">
                <a:solidFill>
                  <a:srgbClr val="FFFFFF"/>
                </a:solidFill>
                <a:latin typeface="Arial"/>
              </a:rPr>
              <a:t>✔ Deep Code Analysis (`config.js` &amp; Controllers): </a:t>
            </a:r>
            <a:r>
              <a:rPr b="0" sz="1400">
                <a:solidFill>
                  <a:srgbClr val="FFFFFF"/>
                </a:solidFill>
                <a:latin typeface="Arial"/>
              </a:rPr>
              <a:t>Inspection of the source codebase reveals an architectural configuration engineered to transmit student prompt payloads to OpenAI API endpoints for real-time natural language AI interpretation.</a:t>
            </a:r>
          </a:p>
          <a:p>
            <a:pPr>
              <a:spcAft>
                <a:spcPts val="1000"/>
              </a:spcAft>
            </a:pPr>
            <a:r>
              <a:rPr b="1" sz="1400">
                <a:solidFill>
                  <a:srgbClr val="FFFFFF"/>
                </a:solidFill>
                <a:latin typeface="Arial"/>
              </a:rPr>
              <a:t>✔ Autonomous Algorithmic Fallback Engine: </a:t>
            </a:r>
            <a:r>
              <a:rPr b="0" sz="1400">
                <a:solidFill>
                  <a:srgbClr val="FFFFFF"/>
                </a:solidFill>
                <a:latin typeface="Arial"/>
              </a:rPr>
              <a:t>To guarantee reliable execution during offline college viva reviews or API quota limits, I engineered a client-side JavaScript keyword-matching fallback algorithm. When API requests time out, the local engine seamlessly intercepts prompts to provide verified answers on fee structures, exam schedules, and library rules without error.</a:t>
            </a:r>
          </a:p>
        </p:txBody>
      </p:sp>
      <p:sp>
        <p:nvSpPr>
          <p:cNvPr id="7" name="Rounded Rectangle 6"/>
          <p:cNvSpPr/>
          <p:nvPr/>
        </p:nvSpPr>
        <p:spPr>
          <a:xfrm>
            <a:off x="621792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600">
                <a:solidFill>
                  <a:srgbClr val="1F4E79"/>
                </a:solidFill>
                <a:latin typeface="Arial"/>
              </a:rPr>
              <a:t>Documented Frontend Work Responsibilities: </a:t>
            </a:r>
            <a:r>
              <a:rPr b="0" sz="1600">
                <a:solidFill>
                  <a:srgbClr val="1F4E79"/>
                </a:solidFill>
                <a:latin typeface="Arial"/>
              </a:rPr>
              <a:t/>
            </a:r>
          </a:p>
          <a:p>
            <a:pPr>
              <a:spcAft>
                <a:spcPts val="1200"/>
              </a:spcAft>
            </a:pPr>
            <a:r>
              <a:rPr b="1" sz="1300">
                <a:solidFill>
                  <a:srgbClr val="262626"/>
                </a:solidFill>
                <a:latin typeface="Arial"/>
              </a:rPr>
              <a:t>• Dynamic DOM State Manipulation: </a:t>
            </a:r>
            <a:r>
              <a:rPr b="0" sz="1300">
                <a:solidFill>
                  <a:srgbClr val="262626"/>
                </a:solidFill>
                <a:latin typeface="Arial"/>
              </a:rPr>
              <a:t>Programmed event listeners that inject interactive conversation dialogue bubbles into the UI dynamically without triggering page reloads.</a:t>
            </a:r>
          </a:p>
          <a:p>
            <a:pPr>
              <a:spcAft>
                <a:spcPts val="1200"/>
              </a:spcAft>
            </a:pPr>
            <a:r>
              <a:rPr b="1" sz="1300">
                <a:solidFill>
                  <a:srgbClr val="262626"/>
                </a:solidFill>
                <a:latin typeface="Arial"/>
              </a:rPr>
              <a:t>• Defensive Client-Side Form Validation: </a:t>
            </a:r>
            <a:r>
              <a:rPr b="0" sz="1300">
                <a:solidFill>
                  <a:srgbClr val="262626"/>
                </a:solidFill>
                <a:latin typeface="Arial"/>
              </a:rPr>
              <a:t>Constructed regex-driven script checkers on enrollment forms to verify student email formatting, contact numbers, and numeric graduation criteria before submission.</a:t>
            </a:r>
          </a:p>
          <a:p>
            <a:pPr>
              <a:spcAft>
                <a:spcPts val="1000"/>
              </a:spcAft>
            </a:pPr>
            <a:r>
              <a:rPr b="1" sz="1300">
                <a:solidFill>
                  <a:srgbClr val="262626"/>
                </a:solidFill>
                <a:latin typeface="Arial"/>
              </a:rPr>
              <a:t>• Acquired Engineering Takeaway: </a:t>
            </a:r>
            <a:r>
              <a:rPr b="0" sz="1300">
                <a:solidFill>
                  <a:srgbClr val="262626"/>
                </a:solidFill>
                <a:latin typeface="Arial"/>
              </a:rPr>
              <a:t>Proved foundational competence in integrating third-party APIs, handling asynchronous fetch promises, and building fault-tolerant fallback algorithms in modern ES6 JavaScript.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4: FULL-STACK MERN ENTERPRISE WEB APPLICATION</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4 (Main Project): Sri Srinivasa Clean Rooms</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400"/>
              </a:spcAft>
            </a:pPr>
            <a:r>
              <a:rPr b="1" sz="1500">
                <a:solidFill>
                  <a:srgbClr val="1F4E79"/>
                </a:solidFill>
                <a:latin typeface="Arial"/>
              </a:rPr>
              <a:t>Project Identification &amp; Domain Focus: </a:t>
            </a:r>
            <a:r>
              <a:rPr b="0" sz="1500">
                <a:solidFill>
                  <a:srgbClr val="1F4E79"/>
                </a:solidFill>
                <a:latin typeface="Arial"/>
              </a:rPr>
              <a:t>A production-grade, secure Full-Stack e-commerce product catalog and inventory management platform tailored for hospital medical furniture and modular surgical clean room architectures.</a:t>
            </a:r>
          </a:p>
          <a:p>
            <a:pPr>
              <a:spcAft>
                <a:spcPts val="1400"/>
              </a:spcAft>
            </a:pPr>
            <a:r>
              <a:rPr b="1" sz="1400">
                <a:solidFill>
                  <a:srgbClr val="262626"/>
                </a:solidFill>
                <a:latin typeface="Arial"/>
              </a:rPr>
              <a:t>Business Purpose &amp; Solved Challenges: </a:t>
            </a:r>
            <a:r>
              <a:rPr b="0" sz="1400">
                <a:solidFill>
                  <a:srgbClr val="262626"/>
                </a:solidFill>
                <a:latin typeface="Arial"/>
              </a:rPr>
              <a:t>Managing high-value medical infrastructure equipment requires precise technical specification tracking and continuous inventory updates. This project modernized legacy operations by empowering healthcare purchasers with rapid dynamic product filtering while providing corporate administrators with a secure CRUD backend featuring automated spreadsheet data migration tools.</a:t>
            </a:r>
          </a:p>
          <a:p>
            <a:pPr>
              <a:spcAft>
                <a:spcPts val="1000"/>
              </a:spcAft>
            </a:pPr>
            <a:r>
              <a:rPr b="1" sz="1400">
                <a:solidFill>
                  <a:srgbClr val="262626"/>
                </a:solidFill>
                <a:latin typeface="Arial"/>
              </a:rPr>
              <a:t>Role-Based Access Governance (RBAC): </a:t>
            </a:r>
            <a:r>
              <a:rPr b="0" sz="1400">
                <a:solidFill>
                  <a:srgbClr val="262626"/>
                </a:solidFill>
                <a:latin typeface="Arial"/>
              </a:rPr>
              <a:t>Strictly isolates public catalog visualization from secure administrative inventory alteration endpoints.</a:t>
            </a:r>
          </a:p>
        </p:txBody>
      </p:sp>
      <p:sp>
        <p:nvSpPr>
          <p:cNvPr id="7" name="Rounded Rectangle 6"/>
          <p:cNvSpPr/>
          <p:nvPr/>
        </p:nvSpPr>
        <p:spPr>
          <a:xfrm>
            <a:off x="621792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800">
                <a:solidFill>
                  <a:srgbClr val="FFFFFF"/>
                </a:solidFill>
                <a:latin typeface="Arial"/>
              </a:rPr>
              <a:t>Verified Enterprise MERN Technology Stack: </a:t>
            </a:r>
            <a:r>
              <a:rPr b="0" sz="1800">
                <a:solidFill>
                  <a:srgbClr val="FFFFFF"/>
                </a:solidFill>
                <a:latin typeface="Arial"/>
              </a:rPr>
              <a:t/>
            </a:r>
          </a:p>
          <a:p>
            <a:pPr>
              <a:spcAft>
                <a:spcPts val="1400"/>
              </a:spcAft>
            </a:pPr>
            <a:r>
              <a:rPr b="1" sz="1400">
                <a:solidFill>
                  <a:srgbClr val="FFFFFF"/>
                </a:solidFill>
                <a:latin typeface="Arial"/>
              </a:rPr>
              <a:t>✔ Frontend Client (React 19 &amp; Vite 8): </a:t>
            </a:r>
            <a:r>
              <a:rPr b="0" sz="1400">
                <a:solidFill>
                  <a:srgbClr val="FFFFFF"/>
                </a:solidFill>
                <a:latin typeface="Arial"/>
              </a:rPr>
              <a:t>Built with React functional components, modular hooks (`useState`, `useEffect`), Axios API communications, and React Router v7 DOM navigation.</a:t>
            </a:r>
          </a:p>
          <a:p>
            <a:pPr>
              <a:spcAft>
                <a:spcPts val="1400"/>
              </a:spcAft>
            </a:pPr>
            <a:r>
              <a:rPr b="1" sz="1400">
                <a:solidFill>
                  <a:srgbClr val="FFFFFF"/>
                </a:solidFill>
                <a:latin typeface="Arial"/>
              </a:rPr>
              <a:t>✔ Backend API Gateway (Node 20 &amp; Express 4): </a:t>
            </a:r>
            <a:r>
              <a:rPr b="0" sz="1400">
                <a:solidFill>
                  <a:srgbClr val="FFFFFF"/>
                </a:solidFill>
                <a:latin typeface="Arial"/>
              </a:rPr>
              <a:t>Stateless asynchronous RESTful server routing handling JSON payloads and multipart data streams.</a:t>
            </a:r>
          </a:p>
          <a:p>
            <a:pPr>
              <a:spcAft>
                <a:spcPts val="1000"/>
              </a:spcAft>
            </a:pPr>
            <a:r>
              <a:rPr b="1" sz="1400">
                <a:solidFill>
                  <a:srgbClr val="FFFFFF"/>
                </a:solidFill>
                <a:latin typeface="Arial"/>
              </a:rPr>
              <a:t>✔ NoSQL Persistence &amp; Security: </a:t>
            </a:r>
            <a:r>
              <a:rPr b="0" sz="1400">
                <a:solidFill>
                  <a:srgbClr val="FFFFFF"/>
                </a:solidFill>
                <a:latin typeface="Arial"/>
              </a:rPr>
              <a:t>MongoDB v7 database managed via Mongoose ODM v8, fortified by **BcryptJS (v3)** password encryption, **JWT (v9)** tokens, and **Multer** file upload middleware.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4: END-TO-END DECOUPLED DATA FLOW ARCHITECTURE</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4: Full-Stack System Architecture Diagram</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3200400" cy="402336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11680"/>
            <a:ext cx="2926080" cy="3657600"/>
          </a:xfrm>
          <a:prstGeom prst="rect">
            <a:avLst/>
          </a:prstGeom>
          <a:noFill/>
        </p:spPr>
        <p:txBody>
          <a:bodyPr wrap="square">
            <a:spAutoFit/>
          </a:bodyPr>
          <a:lstStyle/>
          <a:p>
            <a:pPr>
              <a:spcAft>
                <a:spcPts val="1400"/>
              </a:spcAft>
            </a:pPr>
            <a:r>
              <a:rPr b="1" sz="1600">
                <a:solidFill>
                  <a:srgbClr val="FFFFFF"/>
                </a:solidFill>
                <a:latin typeface="Arial"/>
              </a:rPr>
              <a:t>1. CLIENT UI LAYER </a:t>
            </a:r>
            <a:r>
              <a:rPr b="0" sz="1600">
                <a:solidFill>
                  <a:srgbClr val="FFFFFF"/>
                </a:solidFill>
                <a:latin typeface="Arial"/>
              </a:rPr>
              <a:t/>
            </a:r>
          </a:p>
          <a:p>
            <a:pPr>
              <a:spcAft>
                <a:spcPts val="0"/>
              </a:spcAft>
            </a:pPr>
            <a:r>
              <a:rPr b="1" sz="1400">
                <a:solidFill>
                  <a:srgbClr val="FFFFFF"/>
                </a:solidFill>
                <a:latin typeface="Arial"/>
              </a:rPr>
              <a:t/>
            </a:r>
            <a:r>
              <a:rPr b="0" sz="1400">
                <a:solidFill>
                  <a:srgbClr val="FFFFFF"/>
                </a:solidFill>
                <a:latin typeface="Arial"/>
              </a:rPr>
              <a:t>React.js v19 &amp; Vite
• Single Page App (SPA)
• Functional Modular Hooks
• React Router v7 Navigation
• Axios REST Client
• Dynamic Category Filtering</a:t>
            </a:r>
          </a:p>
        </p:txBody>
      </p:sp>
      <p:sp>
        <p:nvSpPr>
          <p:cNvPr id="7" name="Rounded Rectangle 6"/>
          <p:cNvSpPr/>
          <p:nvPr/>
        </p:nvSpPr>
        <p:spPr>
          <a:xfrm>
            <a:off x="4480560" y="1828800"/>
            <a:ext cx="3200400" cy="402336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2011680"/>
            <a:ext cx="2926080" cy="3657600"/>
          </a:xfrm>
          <a:prstGeom prst="rect">
            <a:avLst/>
          </a:prstGeom>
          <a:noFill/>
        </p:spPr>
        <p:txBody>
          <a:bodyPr wrap="square">
            <a:spAutoFit/>
          </a:bodyPr>
          <a:lstStyle/>
          <a:p>
            <a:pPr>
              <a:spcAft>
                <a:spcPts val="1400"/>
              </a:spcAft>
            </a:pPr>
            <a:r>
              <a:rPr b="1" sz="1600">
                <a:solidFill>
                  <a:srgbClr val="FFFFFF"/>
                </a:solidFill>
                <a:latin typeface="Arial"/>
              </a:rPr>
              <a:t>2. API GATEWAY &amp; AUTH </a:t>
            </a:r>
            <a:r>
              <a:rPr b="0" sz="1600">
                <a:solidFill>
                  <a:srgbClr val="FFFFFF"/>
                </a:solidFill>
                <a:latin typeface="Arial"/>
              </a:rPr>
              <a:t/>
            </a:r>
          </a:p>
          <a:p>
            <a:pPr>
              <a:spcAft>
                <a:spcPts val="0"/>
              </a:spcAft>
            </a:pPr>
            <a:r>
              <a:rPr b="1" sz="1400">
                <a:solidFill>
                  <a:srgbClr val="FFFFFF"/>
                </a:solidFill>
                <a:latin typeface="Arial"/>
              </a:rPr>
              <a:t/>
            </a:r>
            <a:r>
              <a:rPr b="0" sz="1400">
                <a:solidFill>
                  <a:srgbClr val="FFFFFF"/>
                </a:solidFill>
                <a:latin typeface="Arial"/>
              </a:rPr>
              <a:t>Express.js REST Server
• Stateless API Routing
• CORS &amp; JSON Body Parsing
• JWT Bearer Verification
• Multer Multipart Storage
• CSV-Parser Stream Pipeline</a:t>
            </a:r>
          </a:p>
        </p:txBody>
      </p:sp>
      <p:sp>
        <p:nvSpPr>
          <p:cNvPr id="9" name="Rounded Rectangle 8"/>
          <p:cNvSpPr/>
          <p:nvPr/>
        </p:nvSpPr>
        <p:spPr>
          <a:xfrm>
            <a:off x="8412480" y="1828800"/>
            <a:ext cx="3200400" cy="402336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49640" y="2011680"/>
            <a:ext cx="2926080" cy="3657600"/>
          </a:xfrm>
          <a:prstGeom prst="rect">
            <a:avLst/>
          </a:prstGeom>
          <a:noFill/>
        </p:spPr>
        <p:txBody>
          <a:bodyPr wrap="square">
            <a:spAutoFit/>
          </a:bodyPr>
          <a:lstStyle/>
          <a:p>
            <a:pPr>
              <a:spcAft>
                <a:spcPts val="1400"/>
              </a:spcAft>
            </a:pPr>
            <a:r>
              <a:rPr b="1" sz="1600">
                <a:solidFill>
                  <a:srgbClr val="FFFFFF"/>
                </a:solidFill>
                <a:latin typeface="Arial"/>
              </a:rPr>
              <a:t>3. DATABASE LAYER </a:t>
            </a:r>
            <a:r>
              <a:rPr b="0" sz="1600">
                <a:solidFill>
                  <a:srgbClr val="FFFFFF"/>
                </a:solidFill>
                <a:latin typeface="Arial"/>
              </a:rPr>
              <a:t/>
            </a:r>
          </a:p>
          <a:p>
            <a:pPr>
              <a:spcAft>
                <a:spcPts val="0"/>
              </a:spcAft>
            </a:pPr>
            <a:r>
              <a:rPr b="1" sz="1400">
                <a:solidFill>
                  <a:srgbClr val="FFFFFF"/>
                </a:solidFill>
                <a:latin typeface="Arial"/>
              </a:rPr>
              <a:t/>
            </a:r>
            <a:r>
              <a:rPr b="0" sz="1400">
                <a:solidFill>
                  <a:srgbClr val="FFFFFF"/>
                </a:solidFill>
                <a:latin typeface="Arial"/>
              </a:rPr>
              <a:t>MongoDB &amp; Mongoose
• Document Data Persistence
• Mongoose Schema Validation
• Bcrypt Password Hashes
• Selective Category Indexing
• Atomic Mass CRUD Execution</a:t>
            </a:r>
          </a:p>
        </p:txBody>
      </p:sp>
      <p:sp>
        <p:nvSpPr>
          <p:cNvPr id="11" name="Right Arrow 10"/>
          <p:cNvSpPr/>
          <p:nvPr/>
        </p:nvSpPr>
        <p:spPr>
          <a:xfrm>
            <a:off x="3840480" y="3566160"/>
            <a:ext cx="548640" cy="457200"/>
          </a:xfrm>
          <a:prstGeom prst="rightArrow">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772400" y="3566160"/>
            <a:ext cx="548640" cy="457200"/>
          </a:xfrm>
          <a:prstGeom prst="rightArrow">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5989320"/>
            <a:ext cx="11064240" cy="640080"/>
          </a:xfrm>
          <a:prstGeom prst="roundRect">
            <a:avLst/>
          </a:prstGeom>
          <a:solidFill>
            <a:srgbClr val="F2F4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035040"/>
            <a:ext cx="10698480" cy="548640"/>
          </a:xfrm>
          <a:prstGeom prst="rect">
            <a:avLst/>
          </a:prstGeom>
          <a:noFill/>
        </p:spPr>
        <p:txBody>
          <a:bodyPr wrap="square">
            <a:spAutoFit/>
          </a:bodyPr>
          <a:lstStyle/>
          <a:p>
            <a:pPr>
              <a:spcAft>
                <a:spcPts val="0"/>
              </a:spcAft>
            </a:pPr>
            <a:r>
              <a:rPr b="1" sz="1300">
                <a:solidFill>
                  <a:srgbClr val="262626"/>
                </a:solidFill>
                <a:latin typeface="Arial"/>
              </a:rPr>
              <a:t>Decoupled Separation of Concerns: </a:t>
            </a:r>
            <a:r>
              <a:rPr b="0" sz="1300">
                <a:solidFill>
                  <a:srgbClr val="262626"/>
                </a:solidFill>
                <a:latin typeface="Arial"/>
              </a:rPr>
              <a:t>Stateless HTTP RESTful JSON communication guarantees that frontend presentation UI logic remains totally isolated from server-side database verification and cryptographic authentication pipelines.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4: ENDPOINT ENGINEERING &amp; DEFENSIVE PROTOCOLS</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4: REST API Routing &amp; Cryptographic Security</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000"/>
              </a:spcAft>
            </a:pPr>
            <a:r>
              <a:rPr b="1" sz="1500">
                <a:solidFill>
                  <a:srgbClr val="1F4E79"/>
                </a:solidFill>
                <a:latin typeface="Arial"/>
              </a:rPr>
              <a:t>Verified RESTful Server Endpoint Architecture: </a:t>
            </a:r>
            <a:r>
              <a:rPr b="0" sz="1500">
                <a:solidFill>
                  <a:srgbClr val="1F4E79"/>
                </a:solidFill>
                <a:latin typeface="Arial"/>
              </a:rPr>
              <a:t/>
            </a:r>
          </a:p>
          <a:p>
            <a:pPr>
              <a:spcAft>
                <a:spcPts val="1000"/>
              </a:spcAft>
            </a:pPr>
            <a:r>
              <a:rPr b="1" sz="1300">
                <a:solidFill>
                  <a:srgbClr val="262626"/>
                </a:solidFill>
                <a:latin typeface="Arial"/>
              </a:rPr>
              <a:t>• `GET /api/products`: </a:t>
            </a:r>
            <a:r>
              <a:rPr b="0" sz="1300">
                <a:solidFill>
                  <a:srgbClr val="262626"/>
                </a:solidFill>
                <a:latin typeface="Arial"/>
              </a:rPr>
              <a:t>Public catalog feed endpoint supporting dynamic server-side category and search term filtering.</a:t>
            </a:r>
          </a:p>
          <a:p>
            <a:pPr>
              <a:spcAft>
                <a:spcPts val="1000"/>
              </a:spcAft>
            </a:pPr>
            <a:r>
              <a:rPr b="1" sz="1300">
                <a:solidFill>
                  <a:srgbClr val="262626"/>
                </a:solidFill>
                <a:latin typeface="Arial"/>
              </a:rPr>
              <a:t>• `POST /api/admin/login`: </a:t>
            </a:r>
            <a:r>
              <a:rPr b="0" sz="1300">
                <a:solidFill>
                  <a:srgbClr val="262626"/>
                </a:solidFill>
                <a:latin typeface="Arial"/>
              </a:rPr>
              <a:t>Evaluates submitted credentials against stored bcrypt hashes; upon success, issues a signed JWT bearer token.</a:t>
            </a:r>
          </a:p>
          <a:p>
            <a:pPr>
              <a:spcAft>
                <a:spcPts val="1000"/>
              </a:spcAft>
            </a:pPr>
            <a:r>
              <a:rPr b="1" sz="1300">
                <a:solidFill>
                  <a:srgbClr val="262626"/>
                </a:solidFill>
                <a:latin typeface="Arial"/>
              </a:rPr>
              <a:t>• `POST /api/products` (Protected): </a:t>
            </a:r>
            <a:r>
              <a:rPr b="0" sz="1300">
                <a:solidFill>
                  <a:srgbClr val="262626"/>
                </a:solidFill>
                <a:latin typeface="Arial"/>
              </a:rPr>
              <a:t>Intercepts multipart image uploads via Multer, saves file system URIs, and commits verified documents into MongoDB.</a:t>
            </a:r>
          </a:p>
          <a:p>
            <a:pPr>
              <a:spcAft>
                <a:spcPts val="1000"/>
              </a:spcAft>
            </a:pPr>
            <a:r>
              <a:rPr b="1" sz="1300">
                <a:solidFill>
                  <a:srgbClr val="262626"/>
                </a:solidFill>
                <a:latin typeface="Arial"/>
              </a:rPr>
              <a:t>• `POST /api/products/import` (Protected): </a:t>
            </a:r>
            <a:r>
              <a:rPr b="0" sz="1300">
                <a:solidFill>
                  <a:srgbClr val="262626"/>
                </a:solidFill>
                <a:latin typeface="Arial"/>
              </a:rPr>
              <a:t>Streams uploaded CSV spreadsheets to execute automated mass catalog inventory insertions.</a:t>
            </a:r>
          </a:p>
          <a:p>
            <a:pPr>
              <a:spcAft>
                <a:spcPts val="600"/>
              </a:spcAft>
            </a:pPr>
            <a:r>
              <a:rPr b="1" sz="1300">
                <a:solidFill>
                  <a:srgbClr val="262626"/>
                </a:solidFill>
                <a:latin typeface="Arial"/>
              </a:rPr>
              <a:t>• `PUT / DELETE /api/products/:id` (Protected): </a:t>
            </a:r>
            <a:r>
              <a:rPr b="0" sz="1300">
                <a:solidFill>
                  <a:srgbClr val="262626"/>
                </a:solidFill>
                <a:latin typeface="Arial"/>
              </a:rPr>
              <a:t>Executes targeted item parameter modifications or permanent record deletion.</a:t>
            </a:r>
          </a:p>
        </p:txBody>
      </p:sp>
      <p:sp>
        <p:nvSpPr>
          <p:cNvPr id="7" name="Rounded Rectangle 6"/>
          <p:cNvSpPr/>
          <p:nvPr/>
        </p:nvSpPr>
        <p:spPr>
          <a:xfrm>
            <a:off x="621792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600">
                <a:solidFill>
                  <a:srgbClr val="FFFFFF"/>
                </a:solidFill>
                <a:latin typeface="Arial"/>
              </a:rPr>
              <a:t>Cryptographic Application Security Protocols: </a:t>
            </a:r>
            <a:r>
              <a:rPr b="0" sz="1600">
                <a:solidFill>
                  <a:srgbClr val="FFFFFF"/>
                </a:solidFill>
                <a:latin typeface="Arial"/>
              </a:rPr>
              <a:t/>
            </a:r>
          </a:p>
          <a:p>
            <a:pPr>
              <a:spcAft>
                <a:spcPts val="1400"/>
              </a:spcAft>
            </a:pPr>
            <a:r>
              <a:rPr b="1" sz="1400">
                <a:solidFill>
                  <a:srgbClr val="FFFFFF"/>
                </a:solidFill>
                <a:latin typeface="Arial"/>
              </a:rPr>
              <a:t>✔ BcryptJS Password Encryption (v3.0.3): </a:t>
            </a:r>
            <a:r>
              <a:rPr b="0" sz="1400">
                <a:solidFill>
                  <a:srgbClr val="FFFFFF"/>
                </a:solidFill>
                <a:latin typeface="Arial"/>
              </a:rPr>
              <a:t>Administrative passwords are never written or evaluated in plaintext. Passwords undergo one-way salted algorithmic hashing prior to database storage, neutralizing database breach exposures.</a:t>
            </a:r>
          </a:p>
          <a:p>
            <a:pPr>
              <a:spcAft>
                <a:spcPts val="1400"/>
              </a:spcAft>
            </a:pPr>
            <a:r>
              <a:rPr b="1" sz="1400">
                <a:solidFill>
                  <a:srgbClr val="FFFFFF"/>
                </a:solidFill>
                <a:latin typeface="Arial"/>
              </a:rPr>
              <a:t>✔ Stateless JWT Authorization (v9.0.3): </a:t>
            </a:r>
            <a:r>
              <a:rPr b="0" sz="1400">
                <a:solidFill>
                  <a:srgbClr val="FFFFFF"/>
                </a:solidFill>
                <a:latin typeface="Arial"/>
              </a:rPr>
              <a:t>Session-less security architecture. Every administrative route utilizes Express middleware to intercept and cryptographically verify the JSON Web Token bearer header before granting resource modification access.</a:t>
            </a:r>
          </a:p>
          <a:p>
            <a:pPr>
              <a:spcAft>
                <a:spcPts val="1000"/>
              </a:spcAft>
            </a:pPr>
            <a:r>
              <a:rPr b="1" sz="1400">
                <a:solidFill>
                  <a:srgbClr val="FFFFFF"/>
                </a:solidFill>
                <a:latin typeface="Arial"/>
              </a:rPr>
              <a:t>✔ CORS &amp; Defensive Middleware: </a:t>
            </a:r>
            <a:r>
              <a:rPr b="0" sz="1400">
                <a:solidFill>
                  <a:srgbClr val="FFFFFF"/>
                </a:solidFill>
                <a:latin typeface="Arial"/>
              </a:rPr>
              <a:t>Enforced Cross-Origin Resource Sharing restrictions and automated JSON parsing error trapping.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4: NOSQL DOCUMENT DATA MODELING &amp; INDEXING</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4: MongoDB Schema &amp; Mongoose ODM Design</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200"/>
              </a:spcAft>
            </a:pPr>
            <a:r>
              <a:rPr b="1" sz="1600">
                <a:solidFill>
                  <a:srgbClr val="1F4E79"/>
                </a:solidFill>
                <a:latin typeface="Arial"/>
              </a:rPr>
              <a:t>Mongoose `Product` Document Schema: </a:t>
            </a:r>
            <a:r>
              <a:rPr b="0" sz="1600">
                <a:solidFill>
                  <a:srgbClr val="1F4E79"/>
                </a:solidFill>
                <a:latin typeface="Arial"/>
              </a:rPr>
              <a:t/>
            </a:r>
          </a:p>
          <a:p>
            <a:pPr>
              <a:spcAft>
                <a:spcPts val="1000"/>
              </a:spcAft>
            </a:pPr>
            <a:r>
              <a:rPr b="1" sz="1300">
                <a:solidFill>
                  <a:srgbClr val="262626"/>
                </a:solidFill>
                <a:latin typeface="Arial"/>
              </a:rPr>
              <a:t>• `title`: </a:t>
            </a:r>
            <a:r>
              <a:rPr b="0" sz="1300">
                <a:solidFill>
                  <a:srgbClr val="262626"/>
                </a:solidFill>
                <a:latin typeface="Arial"/>
              </a:rPr>
              <a:t>String (Required, automatic whitespace trimming, custom indexed for high-speed text search).</a:t>
            </a:r>
          </a:p>
          <a:p>
            <a:pPr>
              <a:spcAft>
                <a:spcPts val="1000"/>
              </a:spcAft>
            </a:pPr>
            <a:r>
              <a:rPr b="1" sz="1300">
                <a:solidFill>
                  <a:srgbClr val="262626"/>
                </a:solidFill>
                <a:latin typeface="Arial"/>
              </a:rPr>
              <a:t>• `category`: </a:t>
            </a:r>
            <a:r>
              <a:rPr b="0" sz="1300">
                <a:solidFill>
                  <a:srgbClr val="262626"/>
                </a:solidFill>
                <a:latin typeface="Arial"/>
              </a:rPr>
              <a:t>String (Strict enumeration validation: Modular Surgical Furniture, Clean Room Equip., Air Handling Units).</a:t>
            </a:r>
          </a:p>
          <a:p>
            <a:pPr>
              <a:spcAft>
                <a:spcPts val="1000"/>
              </a:spcAft>
            </a:pPr>
            <a:r>
              <a:rPr b="1" sz="1300">
                <a:solidFill>
                  <a:srgbClr val="262626"/>
                </a:solidFill>
                <a:latin typeface="Arial"/>
              </a:rPr>
              <a:t>• `price` &amp; `specifications`: </a:t>
            </a:r>
            <a:r>
              <a:rPr b="0" sz="1300">
                <a:solidFill>
                  <a:srgbClr val="262626"/>
                </a:solidFill>
                <a:latin typeface="Arial"/>
              </a:rPr>
              <a:t>Numeric values and embedded JSON sub-documents documenting physical dimensions, stainless steel material classes, and ISO clean room grading.</a:t>
            </a:r>
          </a:p>
          <a:p>
            <a:pPr>
              <a:spcAft>
                <a:spcPts val="1000"/>
              </a:spcAft>
            </a:pPr>
            <a:r>
              <a:rPr b="1" sz="1300">
                <a:solidFill>
                  <a:srgbClr val="262626"/>
                </a:solidFill>
                <a:latin typeface="Arial"/>
              </a:rPr>
              <a:t>• `image`: </a:t>
            </a:r>
            <a:r>
              <a:rPr b="0" sz="1300">
                <a:solidFill>
                  <a:srgbClr val="262626"/>
                </a:solidFill>
                <a:latin typeface="Arial"/>
              </a:rPr>
              <a:t>String (Local server file system path generated automatically by Multer file upload middleware).</a:t>
            </a:r>
          </a:p>
          <a:p>
            <a:pPr>
              <a:spcAft>
                <a:spcPts val="1000"/>
              </a:spcAft>
            </a:pPr>
            <a:r>
              <a:rPr b="1" sz="1300">
                <a:solidFill>
                  <a:srgbClr val="262626"/>
                </a:solidFill>
                <a:latin typeface="Arial"/>
              </a:rPr>
              <a:t>• `inStock` &amp; `createdAt`: </a:t>
            </a:r>
            <a:r>
              <a:rPr b="0" sz="1300">
                <a:solidFill>
                  <a:srgbClr val="262626"/>
                </a:solidFill>
                <a:latin typeface="Arial"/>
              </a:rPr>
              <a:t>Boolean inventory availability flag and automatic epoch timestamping.</a:t>
            </a:r>
          </a:p>
        </p:txBody>
      </p:sp>
      <p:sp>
        <p:nvSpPr>
          <p:cNvPr id="7" name="Rounded Rectangle 6"/>
          <p:cNvSpPr/>
          <p:nvPr/>
        </p:nvSpPr>
        <p:spPr>
          <a:xfrm>
            <a:off x="621792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600">
                <a:solidFill>
                  <a:srgbClr val="FFFFFF"/>
                </a:solidFill>
                <a:latin typeface="Arial"/>
              </a:rPr>
              <a:t>Mongoose `Admin` Schema &amp; NoSQL Optimization: </a:t>
            </a:r>
            <a:r>
              <a:rPr b="0" sz="1600">
                <a:solidFill>
                  <a:srgbClr val="FFFFFF"/>
                </a:solidFill>
                <a:latin typeface="Arial"/>
              </a:rPr>
              <a:t/>
            </a:r>
          </a:p>
          <a:p>
            <a:pPr>
              <a:spcAft>
                <a:spcPts val="1400"/>
              </a:spcAft>
            </a:pPr>
            <a:r>
              <a:rPr b="1" sz="1400">
                <a:solidFill>
                  <a:srgbClr val="FFFFFF"/>
                </a:solidFill>
                <a:latin typeface="Arial"/>
              </a:rPr>
              <a:t>✔ Admin Security Schema: </a:t>
            </a:r>
            <a:r>
              <a:rPr b="0" sz="1400">
                <a:solidFill>
                  <a:srgbClr val="FFFFFF"/>
                </a:solidFill>
                <a:latin typeface="Arial"/>
              </a:rPr>
              <a:t>Structures unique indexing on `username` and stores encrypted `password` hash strings, incorporating pre-save Mongoose validation middleware.</a:t>
            </a:r>
          </a:p>
          <a:p>
            <a:pPr>
              <a:spcAft>
                <a:spcPts val="1400"/>
              </a:spcAft>
            </a:pPr>
            <a:r>
              <a:rPr b="1" sz="1400">
                <a:solidFill>
                  <a:srgbClr val="FFFFFF"/>
                </a:solidFill>
                <a:latin typeface="Arial"/>
              </a:rPr>
              <a:t>✔ NoSQL Schema Flexibility: </a:t>
            </a:r>
            <a:r>
              <a:rPr b="0" sz="1400">
                <a:solidFill>
                  <a:srgbClr val="FFFFFF"/>
                </a:solidFill>
                <a:latin typeface="Arial"/>
              </a:rPr>
              <a:t>MongoDB document structure seamlessly accommodates varied medical furniture dimensions without requiring rigid SQL relational table joins.</a:t>
            </a:r>
          </a:p>
          <a:p>
            <a:pPr>
              <a:spcAft>
                <a:spcPts val="1000"/>
              </a:spcAft>
            </a:pPr>
            <a:r>
              <a:rPr b="1" sz="1400">
                <a:solidFill>
                  <a:srgbClr val="FFFFFF"/>
                </a:solidFill>
                <a:latin typeface="Arial"/>
              </a:rPr>
              <a:t>✔ Selective Database Indexing: </a:t>
            </a:r>
            <a:r>
              <a:rPr b="0" sz="1400">
                <a:solidFill>
                  <a:srgbClr val="FFFFFF"/>
                </a:solidFill>
                <a:latin typeface="Arial"/>
              </a:rPr>
              <a:t>Engineered compound B-Tree indexing across `category` and `createdAt` fields, ensuring instantaneous query evaluation during high-traffic catalog filtering.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PROJECT 4: ENTERPRISE INVENTORY AUTOMATION &amp; CRUD</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Project 4: Admin Dashboard &amp; Bulk CSV Import Module</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200"/>
              </a:spcAft>
            </a:pPr>
            <a:r>
              <a:rPr b="1" sz="1600">
                <a:solidFill>
                  <a:srgbClr val="1F4E79"/>
                </a:solidFill>
                <a:latin typeface="Arial"/>
              </a:rPr>
              <a:t>Comprehensive Interactive Inventory CRUD: </a:t>
            </a:r>
            <a:r>
              <a:rPr b="0" sz="1600">
                <a:solidFill>
                  <a:srgbClr val="1F4E79"/>
                </a:solidFill>
                <a:latin typeface="Arial"/>
              </a:rPr>
              <a:t/>
            </a:r>
          </a:p>
          <a:p>
            <a:pPr>
              <a:spcAft>
                <a:spcPts val="1200"/>
              </a:spcAft>
            </a:pPr>
            <a:r>
              <a:rPr b="1" sz="1400">
                <a:solidFill>
                  <a:srgbClr val="262626"/>
                </a:solidFill>
                <a:latin typeface="Arial"/>
              </a:rPr>
              <a:t>• Create: </a:t>
            </a:r>
            <a:r>
              <a:rPr b="0" sz="1400">
                <a:solidFill>
                  <a:srgbClr val="262626"/>
                </a:solidFill>
                <a:latin typeface="Arial"/>
              </a:rPr>
              <a:t>Administrators can inject new medical equipment listings with multi-part image attachments directly via responsive React dashboard modals.</a:t>
            </a:r>
          </a:p>
          <a:p>
            <a:pPr>
              <a:spcAft>
                <a:spcPts val="1200"/>
              </a:spcAft>
            </a:pPr>
            <a:r>
              <a:rPr b="1" sz="1400">
                <a:solidFill>
                  <a:srgbClr val="262626"/>
                </a:solidFill>
                <a:latin typeface="Arial"/>
              </a:rPr>
              <a:t>• Read &amp; Filter: </a:t>
            </a:r>
            <a:r>
              <a:rPr b="0" sz="1400">
                <a:solidFill>
                  <a:srgbClr val="262626"/>
                </a:solidFill>
                <a:latin typeface="Arial"/>
              </a:rPr>
              <a:t>Real-time catalog synchronization displaying active inventory feeds with immediate filtering across medical equipment categories.</a:t>
            </a:r>
          </a:p>
          <a:p>
            <a:pPr>
              <a:spcAft>
                <a:spcPts val="1200"/>
              </a:spcAft>
            </a:pPr>
            <a:r>
              <a:rPr b="1" sz="1400">
                <a:solidFill>
                  <a:srgbClr val="262626"/>
                </a:solidFill>
                <a:latin typeface="Arial"/>
              </a:rPr>
              <a:t>• Update: </a:t>
            </a:r>
            <a:r>
              <a:rPr b="0" sz="1400">
                <a:solidFill>
                  <a:srgbClr val="262626"/>
                </a:solidFill>
                <a:latin typeface="Arial"/>
              </a:rPr>
              <a:t>Inline specification modifications allowing rapid alterations to pricing, stock availability flags, and clean room ISO grades.</a:t>
            </a:r>
          </a:p>
          <a:p>
            <a:pPr>
              <a:spcAft>
                <a:spcPts val="1000"/>
              </a:spcAft>
            </a:pPr>
            <a:r>
              <a:rPr b="1" sz="1400">
                <a:solidFill>
                  <a:srgbClr val="262626"/>
                </a:solidFill>
                <a:latin typeface="Arial"/>
              </a:rPr>
              <a:t>• Delete: </a:t>
            </a:r>
            <a:r>
              <a:rPr b="0" sz="1400">
                <a:solidFill>
                  <a:srgbClr val="262626"/>
                </a:solidFill>
                <a:latin typeface="Arial"/>
              </a:rPr>
              <a:t>Secure item retirement removing obsolete equipment listings from public client visualization immediately.</a:t>
            </a:r>
          </a:p>
        </p:txBody>
      </p:sp>
      <p:sp>
        <p:nvSpPr>
          <p:cNvPr id="7" name="Rounded Rectangle 6"/>
          <p:cNvSpPr/>
          <p:nvPr/>
        </p:nvSpPr>
        <p:spPr>
          <a:xfrm>
            <a:off x="6217920" y="1645920"/>
            <a:ext cx="5394960" cy="4572000"/>
          </a:xfrm>
          <a:prstGeom prst="roundRect">
            <a:avLst/>
          </a:prstGeom>
          <a:solidFill>
            <a:srgbClr val="F2F4F8"/>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200"/>
              </a:spcAft>
            </a:pPr>
            <a:r>
              <a:rPr b="1" sz="1600">
                <a:solidFill>
                  <a:srgbClr val="1F4E79"/>
                </a:solidFill>
                <a:latin typeface="Arial"/>
              </a:rPr>
              <a:t>Standout Enterprise Feature: Bulk CSV Import Module: </a:t>
            </a:r>
            <a:r>
              <a:rPr b="0" sz="1600">
                <a:solidFill>
                  <a:srgbClr val="1F4E79"/>
                </a:solidFill>
                <a:latin typeface="Arial"/>
              </a:rPr>
              <a:t/>
            </a:r>
          </a:p>
          <a:p>
            <a:pPr>
              <a:spcAft>
                <a:spcPts val="1400"/>
              </a:spcAft>
            </a:pPr>
            <a:r>
              <a:rPr b="1" sz="1400">
                <a:solidFill>
                  <a:srgbClr val="262626"/>
                </a:solidFill>
                <a:latin typeface="Arial"/>
              </a:rPr>
              <a:t>✔ Resolving Manual Data Bottlenecks: </a:t>
            </a:r>
            <a:r>
              <a:rPr b="0" sz="1400">
                <a:solidFill>
                  <a:srgbClr val="262626"/>
                </a:solidFill>
                <a:latin typeface="Arial"/>
              </a:rPr>
              <a:t>Manually entering individual specifications for hundreds of hospital surgical SKUs creates immense administrative overhead and high human error rates. I engineered a streaming data ingestion endpoint using `csv-parser`.</a:t>
            </a:r>
          </a:p>
          <a:p>
            <a:pPr>
              <a:spcAft>
                <a:spcPts val="1000"/>
              </a:spcAft>
            </a:pPr>
            <a:r>
              <a:rPr b="1" sz="1300">
                <a:solidFill>
                  <a:srgbClr val="262626"/>
                </a:solidFill>
                <a:latin typeface="Arial"/>
              </a:rPr>
              <a:t>✔ Automated Stream Ingestion Pipeline: </a:t>
            </a:r>
            <a:r>
              <a:rPr b="0" sz="1300">
                <a:solidFill>
                  <a:srgbClr val="262626"/>
                </a:solidFill>
                <a:latin typeface="Arial"/>
              </a:rPr>
              <a:t>Authorized administrators upload a raw `.csv` inventory spreadsheet file through the dashboard. The Express server intercepts the file via Multer, asynchronously pipes the readable data stream through `csv-parser`, validates field formatting against Mongoose schema rules, and executes atomic mass document insertions into MongoDB in seconds.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PART 3: PROFESSIONAL PROBLEM SOLVING IN SDLC</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Engineering Challenges Surmounted &amp; Technical Solutions</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11064240" cy="13716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19072"/>
            <a:ext cx="10698480" cy="1234440"/>
          </a:xfrm>
          <a:prstGeom prst="rect">
            <a:avLst/>
          </a:prstGeom>
          <a:noFill/>
        </p:spPr>
        <p:txBody>
          <a:bodyPr wrap="square">
            <a:spAutoFit/>
          </a:bodyPr>
          <a:lstStyle/>
          <a:p>
            <a:pPr>
              <a:spcAft>
                <a:spcPts val="400"/>
              </a:spcAft>
            </a:pPr>
            <a:r>
              <a:rPr b="1" sz="1500">
                <a:solidFill>
                  <a:srgbClr val="1F4E79"/>
                </a:solidFill>
                <a:latin typeface="Arial"/>
              </a:rPr>
              <a:t>▲ Challenge 1: Asynchronous State Race Conditions in React </a:t>
            </a:r>
            <a:r>
              <a:rPr b="0" sz="1500">
                <a:solidFill>
                  <a:srgbClr val="1F4E79"/>
                </a:solidFill>
                <a:latin typeface="Arial"/>
              </a:rPr>
              <a:t/>
            </a:r>
          </a:p>
          <a:p>
            <a:pPr>
              <a:spcAft>
                <a:spcPts val="400"/>
              </a:spcAft>
            </a:pPr>
            <a:r>
              <a:rPr b="1" sz="1300">
                <a:solidFill>
                  <a:srgbClr val="262626"/>
                </a:solidFill>
                <a:latin typeface="Arial"/>
              </a:rPr>
              <a:t>Technical Hurdle: </a:t>
            </a:r>
            <a:r>
              <a:rPr b="0" sz="1300">
                <a:solidFill>
                  <a:srgbClr val="262626"/>
                </a:solidFill>
                <a:latin typeface="Arial"/>
              </a:rPr>
              <a:t>Rapidly switching product filter tabs in Project 4 triggered out-of-order asynchronous API responses, causing severe UI flickering and invalid inventory catalog display.</a:t>
            </a:r>
          </a:p>
          <a:p>
            <a:pPr>
              <a:spcAft>
                <a:spcPts val="0"/>
              </a:spcAft>
            </a:pPr>
            <a:r>
              <a:rPr b="1" sz="1300">
                <a:solidFill>
                  <a:srgbClr val="2E75B6"/>
                </a:solidFill>
                <a:latin typeface="Arial"/>
              </a:rPr>
              <a:t>Engineered Solution: </a:t>
            </a:r>
            <a:r>
              <a:rPr b="0" sz="1300">
                <a:solidFill>
                  <a:srgbClr val="2E75B6"/>
                </a:solidFill>
                <a:latin typeface="Arial"/>
              </a:rPr>
              <a:t>Implemented clean React `useEffect` abort controllers and cancellation cleanup routines. When a user changes filters, redundant in-flight API fetch promises are canceled instantly, guaranteeing deterministic UI state rendering.</a:t>
            </a:r>
          </a:p>
        </p:txBody>
      </p:sp>
      <p:sp>
        <p:nvSpPr>
          <p:cNvPr id="7" name="Rounded Rectangle 6"/>
          <p:cNvSpPr/>
          <p:nvPr/>
        </p:nvSpPr>
        <p:spPr>
          <a:xfrm>
            <a:off x="548640" y="3154680"/>
            <a:ext cx="11064240" cy="13716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27832"/>
            <a:ext cx="10698480" cy="1234440"/>
          </a:xfrm>
          <a:prstGeom prst="rect">
            <a:avLst/>
          </a:prstGeom>
          <a:noFill/>
        </p:spPr>
        <p:txBody>
          <a:bodyPr wrap="square">
            <a:spAutoFit/>
          </a:bodyPr>
          <a:lstStyle/>
          <a:p>
            <a:pPr>
              <a:spcAft>
                <a:spcPts val="400"/>
              </a:spcAft>
            </a:pPr>
            <a:r>
              <a:rPr b="1" sz="1500">
                <a:solidFill>
                  <a:srgbClr val="FFFFFF"/>
                </a:solidFill>
                <a:latin typeface="Arial"/>
              </a:rPr>
              <a:t>▲ Challenge 2: Hardening REST Endpoints Against Payload Attacks </a:t>
            </a:r>
            <a:r>
              <a:rPr b="0" sz="1500">
                <a:solidFill>
                  <a:srgbClr val="FFFFFF"/>
                </a:solidFill>
                <a:latin typeface="Arial"/>
              </a:rPr>
              <a:t/>
            </a:r>
          </a:p>
          <a:p>
            <a:pPr>
              <a:spcAft>
                <a:spcPts val="400"/>
              </a:spcAft>
            </a:pPr>
            <a:r>
              <a:rPr b="1" sz="1300">
                <a:solidFill>
                  <a:srgbClr val="DCE6F5"/>
                </a:solidFill>
                <a:latin typeface="Arial"/>
              </a:rPr>
              <a:t>Technical Hurdle: </a:t>
            </a:r>
            <a:r>
              <a:rPr b="0" sz="1300">
                <a:solidFill>
                  <a:srgbClr val="DCE6F5"/>
                </a:solidFill>
                <a:latin typeface="Arial"/>
              </a:rPr>
              <a:t>Exposed public backend routes faced severe cyber exposure from malformed JSON injection payloads, brute-force administrative credential attacks, and unauthorized origin CORS requests.</a:t>
            </a:r>
          </a:p>
          <a:p>
            <a:pPr>
              <a:spcAft>
                <a:spcPts val="0"/>
              </a:spcAft>
            </a:pPr>
            <a:r>
              <a:rPr b="1" sz="1300">
                <a:solidFill>
                  <a:srgbClr val="FFFFFF"/>
                </a:solidFill>
                <a:latin typeface="Arial"/>
              </a:rPr>
              <a:t>Engineered Solution: </a:t>
            </a:r>
            <a:r>
              <a:rPr b="0" sz="1300">
                <a:solidFill>
                  <a:srgbClr val="FFFFFF"/>
                </a:solidFill>
                <a:latin typeface="Arial"/>
              </a:rPr>
              <a:t>Fortified Express gateway pipelines with structured rate-limiting, Bcrypt password encryption, stateless signed JWT bearer authorization validation, and restrictive origin CORS whitelisting.</a:t>
            </a:r>
          </a:p>
        </p:txBody>
      </p:sp>
      <p:sp>
        <p:nvSpPr>
          <p:cNvPr id="9" name="Rounded Rectangle 8"/>
          <p:cNvSpPr/>
          <p:nvPr/>
        </p:nvSpPr>
        <p:spPr>
          <a:xfrm>
            <a:off x="548640" y="4663440"/>
            <a:ext cx="11064240" cy="13716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736592"/>
            <a:ext cx="10698480" cy="1234440"/>
          </a:xfrm>
          <a:prstGeom prst="rect">
            <a:avLst/>
          </a:prstGeom>
          <a:noFill/>
        </p:spPr>
        <p:txBody>
          <a:bodyPr wrap="square">
            <a:spAutoFit/>
          </a:bodyPr>
          <a:lstStyle/>
          <a:p>
            <a:pPr>
              <a:spcAft>
                <a:spcPts val="400"/>
              </a:spcAft>
            </a:pPr>
            <a:r>
              <a:rPr b="1" sz="1500">
                <a:solidFill>
                  <a:srgbClr val="1F4E79"/>
                </a:solidFill>
                <a:latin typeface="Arial"/>
              </a:rPr>
              <a:t>▲ Challenge 3: Server RAM Bloat During High-Volume CSV Ingestion </a:t>
            </a:r>
            <a:r>
              <a:rPr b="0" sz="1500">
                <a:solidFill>
                  <a:srgbClr val="1F4E79"/>
                </a:solidFill>
                <a:latin typeface="Arial"/>
              </a:rPr>
              <a:t/>
            </a:r>
          </a:p>
          <a:p>
            <a:pPr>
              <a:spcAft>
                <a:spcPts val="400"/>
              </a:spcAft>
            </a:pPr>
            <a:r>
              <a:rPr b="1" sz="1300">
                <a:solidFill>
                  <a:srgbClr val="262626"/>
                </a:solidFill>
                <a:latin typeface="Arial"/>
              </a:rPr>
              <a:t>Technical Hurdle: </a:t>
            </a:r>
            <a:r>
              <a:rPr b="0" sz="1300">
                <a:solidFill>
                  <a:srgbClr val="262626"/>
                </a:solidFill>
                <a:latin typeface="Arial"/>
              </a:rPr>
              <a:t>Reading massive catalog spreadsheets synchronously into Node.js server RAM during bulk inventory uploads threatened memory exhaustion and blocking event loop latency.</a:t>
            </a:r>
          </a:p>
          <a:p>
            <a:pPr>
              <a:spcAft>
                <a:spcPts val="0"/>
              </a:spcAft>
            </a:pPr>
            <a:r>
              <a:rPr b="1" sz="1300">
                <a:solidFill>
                  <a:srgbClr val="2E75B6"/>
                </a:solidFill>
                <a:latin typeface="Arial"/>
              </a:rPr>
              <a:t>Engineered Solution: </a:t>
            </a:r>
            <a:r>
              <a:rPr b="0" sz="1300">
                <a:solidFill>
                  <a:srgbClr val="2E75B6"/>
                </a:solidFill>
                <a:latin typeface="Arial"/>
              </a:rPr>
              <a:t>Engineered asynchronous readable file stream piping using `csv-parser`. Spreadsheets are parsed and pushed to MongoDB in small sequential data chunks, achieving high-speed processing with zero memory leakage.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0972800" cy="365760"/>
          </a:xfrm>
          <a:prstGeom prst="rect">
            <a:avLst/>
          </a:prstGeom>
          <a:noFill/>
        </p:spPr>
        <p:txBody>
          <a:bodyPr wrap="square">
            <a:spAutoFit/>
          </a:bodyPr>
          <a:lstStyle/>
          <a:p>
            <a:pPr>
              <a:defRPr sz="1000" b="1">
                <a:solidFill>
                  <a:srgbClr val="2E75B6"/>
                </a:solidFill>
                <a:latin typeface="Arial"/>
              </a:defRPr>
            </a:pPr>
            <a:r>
              <a:t>PART 3 &amp; 4: CERTIFIED INDUSTRY READINESS &amp; IMPACT</a:t>
            </a:r>
          </a:p>
        </p:txBody>
      </p:sp>
      <p:sp>
        <p:nvSpPr>
          <p:cNvPr id="3" name="TextBox 2"/>
          <p:cNvSpPr txBox="1"/>
          <p:nvPr/>
        </p:nvSpPr>
        <p:spPr>
          <a:xfrm>
            <a:off x="548640" y="640080"/>
            <a:ext cx="10972800" cy="640080"/>
          </a:xfrm>
          <a:prstGeom prst="rect">
            <a:avLst/>
          </a:prstGeom>
          <a:noFill/>
        </p:spPr>
        <p:txBody>
          <a:bodyPr wrap="square">
            <a:spAutoFit/>
          </a:bodyPr>
          <a:lstStyle/>
          <a:p>
            <a:pPr>
              <a:defRPr sz="2600" b="1">
                <a:solidFill>
                  <a:srgbClr val="1F4E79"/>
                </a:solidFill>
                <a:latin typeface="Arial"/>
              </a:defRPr>
            </a:pPr>
            <a:r>
              <a:t>Acquired Engineering Competencies &amp; Academic Outcomes</a:t>
            </a:r>
          </a:p>
        </p:txBody>
      </p:sp>
      <p:sp>
        <p:nvSpPr>
          <p:cNvPr id="4" name="Rectangle 3"/>
          <p:cNvSpPr/>
          <p:nvPr/>
        </p:nvSpPr>
        <p:spPr>
          <a:xfrm>
            <a:off x="548640" y="1280160"/>
            <a:ext cx="11064240" cy="36576"/>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4572000"/>
          </a:xfrm>
          <a:prstGeom prst="roundRect">
            <a:avLst/>
          </a:prstGeom>
          <a:solidFill>
            <a:srgbClr val="F2F4F8"/>
          </a:solidFill>
          <a:ln w="19050">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5029200" cy="4206240"/>
          </a:xfrm>
          <a:prstGeom prst="rect">
            <a:avLst/>
          </a:prstGeom>
          <a:noFill/>
        </p:spPr>
        <p:txBody>
          <a:bodyPr wrap="square">
            <a:spAutoFit/>
          </a:bodyPr>
          <a:lstStyle/>
          <a:p>
            <a:pPr>
              <a:spcAft>
                <a:spcPts val="1200"/>
              </a:spcAft>
            </a:pPr>
            <a:r>
              <a:rPr b="1" sz="1600">
                <a:solidFill>
                  <a:srgbClr val="1F4E79"/>
                </a:solidFill>
                <a:latin typeface="Arial"/>
              </a:rPr>
              <a:t>Verified Professional Technical Competencies: </a:t>
            </a:r>
            <a:r>
              <a:rPr b="0" sz="1600">
                <a:solidFill>
                  <a:srgbClr val="1F4E79"/>
                </a:solidFill>
                <a:latin typeface="Arial"/>
              </a:rPr>
              <a:t/>
            </a:r>
          </a:p>
          <a:p>
            <a:pPr>
              <a:spcAft>
                <a:spcPts val="1000"/>
              </a:spcAft>
            </a:pPr>
            <a:r>
              <a:rPr b="1" sz="1300">
                <a:solidFill>
                  <a:srgbClr val="262626"/>
                </a:solidFill>
                <a:latin typeface="Arial"/>
              </a:rPr>
              <a:t>• Full-Stack MERN Architecture: </a:t>
            </a:r>
            <a:r>
              <a:rPr b="0" sz="1300">
                <a:solidFill>
                  <a:srgbClr val="262626"/>
                </a:solidFill>
                <a:latin typeface="Arial"/>
              </a:rPr>
              <a:t>Proven mastery in structuring decoupled React single-page frontends integrated with Node/Express REST backend routing gateways.</a:t>
            </a:r>
          </a:p>
          <a:p>
            <a:pPr>
              <a:spcAft>
                <a:spcPts val="1000"/>
              </a:spcAft>
            </a:pPr>
            <a:r>
              <a:rPr b="1" sz="1300">
                <a:solidFill>
                  <a:srgbClr val="262626"/>
                </a:solidFill>
                <a:latin typeface="Arial"/>
              </a:rPr>
              <a:t>• NoSQL Schema Engineering: </a:t>
            </a:r>
            <a:r>
              <a:rPr b="0" sz="1300">
                <a:solidFill>
                  <a:srgbClr val="262626"/>
                </a:solidFill>
                <a:latin typeface="Arial"/>
              </a:rPr>
              <a:t>Proficiency in modeling MongoDB document databases, setting selective indexes, and enforcing Mongoose data validation.</a:t>
            </a:r>
          </a:p>
          <a:p>
            <a:pPr>
              <a:spcAft>
                <a:spcPts val="1000"/>
              </a:spcAft>
            </a:pPr>
            <a:r>
              <a:rPr b="1" sz="1300">
                <a:solidFill>
                  <a:srgbClr val="262626"/>
                </a:solidFill>
                <a:latin typeface="Arial"/>
              </a:rPr>
              <a:t>• UI/UX &amp; Responsive Wireframing: </a:t>
            </a:r>
            <a:r>
              <a:rPr b="0" sz="1300">
                <a:solidFill>
                  <a:srgbClr val="262626"/>
                </a:solidFill>
                <a:latin typeface="Arial"/>
              </a:rPr>
              <a:t>Advanced capability translating complex client requirements into intuitive Figma design systems and fluid CSS Grid layouts.</a:t>
            </a:r>
          </a:p>
          <a:p>
            <a:pPr>
              <a:spcAft>
                <a:spcPts val="1000"/>
              </a:spcAft>
            </a:pPr>
            <a:r>
              <a:rPr b="1" sz="1300">
                <a:solidFill>
                  <a:srgbClr val="262626"/>
                </a:solidFill>
                <a:latin typeface="Arial"/>
              </a:rPr>
              <a:t>• Cryptographic Application Security: </a:t>
            </a:r>
            <a:r>
              <a:rPr b="0" sz="1300">
                <a:solidFill>
                  <a:srgbClr val="262626"/>
                </a:solidFill>
                <a:latin typeface="Arial"/>
              </a:rPr>
              <a:t>Hands-on competency in executing Bcrypt salted hashing, stateless JWT authorization, and defensive input validation.</a:t>
            </a:r>
          </a:p>
          <a:p>
            <a:pPr>
              <a:spcAft>
                <a:spcPts val="600"/>
              </a:spcAft>
            </a:pPr>
            <a:r>
              <a:rPr b="1" sz="1300">
                <a:solidFill>
                  <a:srgbClr val="262626"/>
                </a:solidFill>
                <a:latin typeface="Arial"/>
              </a:rPr>
              <a:t>• Agile SDLC &amp; Version Control: </a:t>
            </a:r>
            <a:r>
              <a:rPr b="0" sz="1300">
                <a:solidFill>
                  <a:srgbClr val="262626"/>
                </a:solidFill>
                <a:latin typeface="Arial"/>
              </a:rPr>
              <a:t>Professional fluency in Git version management, Postman simulation validation, and Vite deployment toolchains.</a:t>
            </a:r>
          </a:p>
        </p:txBody>
      </p:sp>
      <p:sp>
        <p:nvSpPr>
          <p:cNvPr id="7" name="Rounded Rectangle 6"/>
          <p:cNvSpPr/>
          <p:nvPr/>
        </p:nvSpPr>
        <p:spPr>
          <a:xfrm>
            <a:off x="6217920" y="1645920"/>
            <a:ext cx="5394960" cy="457200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029200" cy="4206240"/>
          </a:xfrm>
          <a:prstGeom prst="rect">
            <a:avLst/>
          </a:prstGeom>
          <a:noFill/>
        </p:spPr>
        <p:txBody>
          <a:bodyPr wrap="square">
            <a:spAutoFit/>
          </a:bodyPr>
          <a:lstStyle/>
          <a:p>
            <a:pPr>
              <a:spcAft>
                <a:spcPts val="1400"/>
              </a:spcAft>
            </a:pPr>
            <a:r>
              <a:rPr b="1" sz="1700">
                <a:solidFill>
                  <a:srgbClr val="FFFFFF"/>
                </a:solidFill>
                <a:latin typeface="Arial"/>
              </a:rPr>
              <a:t>Summarized Academic &amp; Industrial Impact: </a:t>
            </a:r>
            <a:r>
              <a:rPr b="0" sz="1700">
                <a:solidFill>
                  <a:srgbClr val="FFFFFF"/>
                </a:solidFill>
                <a:latin typeface="Arial"/>
              </a:rPr>
              <a:t/>
            </a:r>
          </a:p>
          <a:p>
            <a:pPr>
              <a:spcAft>
                <a:spcPts val="1600"/>
              </a:spcAft>
            </a:pPr>
            <a:r>
              <a:rPr b="1" sz="1400">
                <a:solidFill>
                  <a:srgbClr val="FFFFFF"/>
                </a:solidFill>
                <a:latin typeface="Arial"/>
              </a:rPr>
              <a:t>✔ Theory-to-Execution Bridge: </a:t>
            </a:r>
            <a:r>
              <a:rPr b="0" sz="1400">
                <a:solidFill>
                  <a:srgbClr val="FFFFFF"/>
                </a:solidFill>
                <a:latin typeface="Arial"/>
              </a:rPr>
              <a:t>This internship successfully transformed classroom B.Sc. IT foundational computer science principles into commercial enterprise software engineering capabilities.</a:t>
            </a:r>
          </a:p>
          <a:p>
            <a:pPr>
              <a:spcAft>
                <a:spcPts val="1600"/>
              </a:spcAft>
            </a:pPr>
            <a:r>
              <a:rPr b="1" sz="1400">
                <a:solidFill>
                  <a:srgbClr val="FFFFFF"/>
                </a:solidFill>
                <a:latin typeface="Arial"/>
              </a:rPr>
              <a:t>✔ Concrete Software Portfolio: </a:t>
            </a:r>
            <a:r>
              <a:rPr b="0" sz="1400">
                <a:solidFill>
                  <a:srgbClr val="FFFFFF"/>
                </a:solidFill>
                <a:latin typeface="Arial"/>
              </a:rPr>
              <a:t>Delivered four fully verified, high-performance production deliverables across healthcare infrastructure and educational SaaS platforms.</a:t>
            </a:r>
          </a:p>
          <a:p>
            <a:pPr>
              <a:spcAft>
                <a:spcPts val="1000"/>
              </a:spcAft>
            </a:pPr>
            <a:r>
              <a:rPr b="1" sz="1400">
                <a:solidFill>
                  <a:srgbClr val="FFFFFF"/>
                </a:solidFill>
                <a:latin typeface="Arial"/>
              </a:rPr>
              <a:t>✔ Formal Certification of Readiness: </a:t>
            </a:r>
            <a:r>
              <a:rPr b="0" sz="1400">
                <a:solidFill>
                  <a:srgbClr val="FFFFFF"/>
                </a:solidFill>
                <a:latin typeface="Arial"/>
              </a:rPr>
              <a:t>Fully prepared to assume advanced software engineering industry responsibilities with rigorous architectural discipline and problem-solving resilience.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ounded Rectangle 1"/>
          <p:cNvSpPr/>
          <p:nvPr/>
        </p:nvSpPr>
        <p:spPr>
          <a:xfrm>
            <a:off x="1828800" y="1097280"/>
            <a:ext cx="8534095" cy="4663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0" y="1463040"/>
            <a:ext cx="8168335" cy="3931920"/>
          </a:xfrm>
          <a:prstGeom prst="rect">
            <a:avLst/>
          </a:prstGeom>
          <a:noFill/>
        </p:spPr>
        <p:txBody>
          <a:bodyPr wrap="square">
            <a:spAutoFit/>
          </a:bodyPr>
          <a:lstStyle/>
          <a:p>
            <a:pPr algn="ctr">
              <a:spcAft>
                <a:spcPts val="1600"/>
              </a:spcAft>
              <a:defRPr sz="3000" b="1">
                <a:solidFill>
                  <a:srgbClr val="1F4E79"/>
                </a:solidFill>
                <a:latin typeface="Arial"/>
              </a:defRPr>
            </a:pPr>
            <a:r>
              <a:t>THANK YOU &amp; OPEN DEFENSE Q&amp;A</a:t>
            </a:r>
          </a:p>
          <a:p>
            <a:pPr algn="ctr">
              <a:spcAft>
                <a:spcPts val="3600"/>
              </a:spcAft>
              <a:defRPr sz="1600">
                <a:solidFill>
                  <a:srgbClr val="262626"/>
                </a:solidFill>
                <a:latin typeface="Arial"/>
              </a:defRPr>
            </a:pPr>
            <a:r>
              <a:t>The floor is now cordially open for faculty evaluations, architectural inquiries, and technical defense questions.</a:t>
            </a:r>
          </a:p>
          <a:p>
            <a:pPr>
              <a:spcAft>
                <a:spcPts val="1000"/>
              </a:spcAft>
            </a:pPr>
            <a:r>
              <a:rPr b="1" sz="1600">
                <a:solidFill>
                  <a:srgbClr val="1F4E79"/>
                </a:solidFill>
                <a:latin typeface="Arial"/>
              </a:rPr>
              <a:t>Presenter: </a:t>
            </a:r>
            <a:r>
              <a:rPr b="0" sz="1600">
                <a:solidFill>
                  <a:srgbClr val="1F4E79"/>
                </a:solidFill>
                <a:latin typeface="Arial"/>
              </a:rPr>
              <a:t>Patel Aryan Shaileshbhai (Enrollment: SR24BSIT138)</a:t>
            </a:r>
          </a:p>
          <a:p>
            <a:pPr>
              <a:spcAft>
                <a:spcPts val="1000"/>
              </a:spcAft>
            </a:pPr>
            <a:r>
              <a:rPr b="1" sz="1500">
                <a:solidFill>
                  <a:srgbClr val="262626"/>
                </a:solidFill>
                <a:latin typeface="Arial"/>
              </a:rPr>
              <a:t>Academic Degree: </a:t>
            </a:r>
            <a:r>
              <a:rPr b="0" sz="1500">
                <a:solidFill>
                  <a:srgbClr val="262626"/>
                </a:solidFill>
                <a:latin typeface="Arial"/>
              </a:rPr>
              <a:t>B.Sc. Information Technology (Semester VI, AY 2025–2026)</a:t>
            </a:r>
          </a:p>
          <a:p>
            <a:pPr>
              <a:spcAft>
                <a:spcPts val="1000"/>
              </a:spcAft>
            </a:pPr>
            <a:r>
              <a:rPr b="1" sz="1500">
                <a:solidFill>
                  <a:srgbClr val="262626"/>
                </a:solidFill>
                <a:latin typeface="Arial"/>
              </a:rPr>
              <a:t>University &amp; Institution: </a:t>
            </a:r>
            <a:r>
              <a:rPr b="0" sz="1500">
                <a:solidFill>
                  <a:srgbClr val="262626"/>
                </a:solidFill>
                <a:latin typeface="Arial"/>
              </a:rPr>
              <a:t>Shree Ramkrishna Institute of Computer Education &amp; Applied Sciences, Sarvajanik University</a:t>
            </a:r>
          </a:p>
          <a:p>
            <a:pPr>
              <a:spcAft>
                <a:spcPts val="600"/>
              </a:spcAft>
            </a:pPr>
            <a:r>
              <a:rPr b="1" sz="1500">
                <a:solidFill>
                  <a:srgbClr val="2E75B6"/>
                </a:solidFill>
                <a:latin typeface="Arial"/>
              </a:rPr>
              <a:t>Hosting Corporate Organization: </a:t>
            </a:r>
            <a:r>
              <a:rPr b="0" sz="1500">
                <a:solidFill>
                  <a:srgbClr val="2E75B6"/>
                </a:solidFill>
                <a:latin typeface="Arial"/>
              </a:rPr>
              <a:t>Pranayuv Technologies Pvt. Ltd.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